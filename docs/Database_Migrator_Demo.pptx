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4" r:id="rId6"/>
    <p:sldId id="260" r:id="rId7"/>
    <p:sldId id="261" r:id="rId8"/>
    <p:sldId id="262" r:id="rId9"/>
    <p:sldId id="263"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43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Здравейте, ще ви представя Database Migrator — система, изградена със Spring Boot, която мигрира схема и данни между различни бази данни, например MySQL към PostgreSQL, като позволява трансформация на схемата по време на миграцията. Ще наблегна основно на техническата имплементация, защото там е най-интересното.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Системата е изградена със Spring Boot 4 и Java 21, структурирана според Domain-Driven Design в пет домейна: connector, scan, transformation, execution и auth — всеки следва един и същ модел controller-service-repository със Spring Data JPA. Собствените метаданни на системата — connectors, scans, transformation models — живеят в отделен PostgreSQL store, напълно разделен от source и target базите данни, до които се достъпва директно през JDBC чрез connection manager. Това разделение е важно: вътрешното състояние на инструмента не зависи от базите данни, които мигрира.</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Connector домейнът отговаря за връзките към базите данни, които участват в миграцията. Всеки Connector пази типа на базата данни, дали е SOURCE или TARGET, хост, порт, име на базата, потребителско име и парола — паролата никога не се пази в чист текст, а се криптира с AES чрез EncryptionUtils. ConnectorService предоставя стандартни CRUD операции с валидация, метод за тестване на връзката преди реално използване, и проверка дали connector-ът вече участва в активен scan или execution цикъл, за да не позволи изтриването му в такъв случай. Source и target connector-ите се създават отделно и после се свързват при сканирането и трансформационния модел.</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Извличането на метаданни работи чрез специфични за базата данни интроспекционни заявки, които извличат всяка таблица, колона, тип и foreign key. Ключовото решение тук е, че никое специфично за СУБД поведение не е хардкоднато — всичко се зарежда от JSON конфигурация: как се заявяват метаданни за дадена СУБД, как се map-ва MySQL INT към PostgreSQL INTEGER, какъв DDL синтаксис изисква всеки диалект, кои думи са запазени идентификатори. Loader класове парсват тези файлове в типизирани конфигурационни модели при стартиране. Така добавянето на поддръжка за нова СУБД, например Oracle, означава писане на JSON файлове, не пипане на Java код. Правилата за типове също маркират рискови конверсии — например стесняване на VARCHAR(255) до VARCHAR(50) — така че потребителят получава предупреждение преди загуба на данни.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Щом сканирането приключи, потребителят получава TransformationModel — по същество редактируемо копие на схемата. Всяка промяна — преименуване на таблица, смяна на типа на колона, изтриване на колона — минава през validation pipeline преди да бъде приета: проверка за reserved keywords, съвместимост на типовете, дублирани имена и дали промяната чупи foreign key връзка. Когато потребителят приключи, той вика confirm endpoint, който прави модела неизменяем. Това е съзнателен избор на state machine: щом сте на път да изпълните миграцията, схемата, върху която я изпълнявате, не може да се промени под вас.</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Това е основният алгоритъм. DAGBuilder превръща transformation модела в граф на зависимости: за всеки foreign key, дъщерната таблица зависи от родителската, защото родителят трябва да съществува и да е populated първи. Преди да направи каквото и да било друго, системата валидира, че графът е ацикличен, използвайки depth-first search с recursion stack — ако има циклична foreign key референция, миграцията се отхвърля предварително, вместо да се провали по средата. След това TaskScheduler изпълнява batch topological sort — алгоритъма на Kahn: многократно изважда всички задачи с нула оставащи зависимости в един batch, премахва ги, намалява броя на зависимостите на всичко, което е зависело от тях, и повтаря. Резултатът е опашка от batches, където всяка задача в даден batch е гарантирано независима от всяка друга задача в същия batch — точно това прави паралелното им изпълнение безопасно.</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При изпълнение CycleExecutionService взима всеки batch от scheduler-а и пуска неговите задачи конкурентно върху фиксиран thread pool с размер десет — независимите таблици буквално се мигрират едновременно, докато системата изчаква целия batch да приключи, преди да започне следващия, тъй като следващият batch може да зависи от него. За самото прехвърляне на данни DataMigrationService чете и пише на партиди от по 1000 реда, така че консумацията на памет остава постоянна независимо от размера на таблицата. Целият цикъл стартира асинхронно през @Async на Spring, така че API извикването връща отговор веднага, а всяка задача логва своя статус, времетраене и брой редове, което захранва мониторинга в реално време.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Освен това, API-то е защитено с JWT, с token-versioning кеш, така че токените могат да бъдат анулирани веднага, вместо да се чака изтичането им. Ролите се прилагат през service слоя, а всяко парче данни е обвързано с организация, така че системата е multi-tenant по подразбиране. Това е обобщението на имплементацията — конфигурируемо извличане и type mapping, валидиран transformation pipeline, и DAG-базиран scheduler, който е истинският двигател зад безопасната, паралелна миграция. Благодаря, готов съм за въпроси.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6.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0080" y="594360"/>
            <a:ext cx="777240" cy="777240"/>
          </a:xfrm>
          <a:prstGeom prst="ellipse">
            <a:avLst/>
          </a:prstGeom>
          <a:solidFill>
            <a:srgbClr val="2C3A7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41121" y="695401"/>
            <a:ext cx="575158" cy="575158"/>
          </a:xfrm>
          <a:prstGeom prst="rect">
            <a:avLst/>
          </a:prstGeom>
        </p:spPr>
      </p:pic>
      <p:sp>
        <p:nvSpPr>
          <p:cNvPr id="4" name="Text 1"/>
          <p:cNvSpPr/>
          <p:nvPr/>
        </p:nvSpPr>
        <p:spPr>
          <a:xfrm>
            <a:off x="640080" y="2377440"/>
            <a:ext cx="10881360" cy="100584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DATABASE MIGRATOR</a:t>
            </a:r>
            <a:endParaRPr lang="en-US" sz="4400" dirty="0"/>
          </a:p>
        </p:txBody>
      </p:sp>
      <p:sp>
        <p:nvSpPr>
          <p:cNvPr id="5" name="Text 2"/>
          <p:cNvSpPr/>
          <p:nvPr/>
        </p:nvSpPr>
        <p:spPr>
          <a:xfrm>
            <a:off x="640080" y="3246120"/>
            <a:ext cx="10607040" cy="8686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Реализация на система за извличане, трансформация и зареждане на данни при миграция на бази данни</a:t>
            </a:r>
            <a:endParaRPr lang="en-US" sz="1800" dirty="0"/>
          </a:p>
        </p:txBody>
      </p:sp>
      <p:sp>
        <p:nvSpPr>
          <p:cNvPr id="6" name="Text 3"/>
          <p:cNvSpPr/>
          <p:nvPr/>
        </p:nvSpPr>
        <p:spPr>
          <a:xfrm>
            <a:off x="640080" y="5577840"/>
            <a:ext cx="8686800" cy="1097280"/>
          </a:xfrm>
          <a:prstGeom prst="rect">
            <a:avLst/>
          </a:prstGeom>
          <a:noFill/>
          <a:ln/>
        </p:spPr>
        <p:txBody>
          <a:bodyPr wrap="square" lIns="0" tIns="0" rIns="0" bIns="0" rtlCol="0" anchor="ctr"/>
          <a:lstStyle/>
          <a:p>
            <a:pPr marL="0" indent="0">
              <a:spcAft>
                <a:spcPts val="400"/>
              </a:spcAft>
              <a:buNone/>
            </a:pPr>
            <a:r>
              <a:rPr lang="en-US" sz="1600" dirty="0">
                <a:solidFill>
                  <a:srgbClr val="AAB5E8"/>
                </a:solidFill>
                <a:latin typeface="Calibri" pitchFamily="34" charset="0"/>
                <a:ea typeface="Calibri" pitchFamily="34" charset="-122"/>
                <a:cs typeface="Calibri" pitchFamily="34" charset="-120"/>
              </a:rPr>
              <a:t>Студент: Мартин Александров Божилов</a:t>
            </a:r>
            <a:endParaRPr lang="en-US" sz="1600" dirty="0"/>
          </a:p>
          <a:p>
            <a:pPr marL="0" indent="0">
              <a:spcAft>
                <a:spcPts val="400"/>
              </a:spcAft>
              <a:buNone/>
            </a:pPr>
            <a:r>
              <a:rPr lang="en-US" sz="1600" dirty="0">
                <a:solidFill>
                  <a:srgbClr val="AAB5E8"/>
                </a:solidFill>
                <a:latin typeface="Calibri" pitchFamily="34" charset="0"/>
                <a:ea typeface="Calibri" pitchFamily="34" charset="-122"/>
                <a:cs typeface="Calibri" pitchFamily="34" charset="-120"/>
              </a:rPr>
              <a:t>Факултетен номер: 121222143</a:t>
            </a:r>
            <a:endParaRPr lang="en-US" sz="1600" dirty="0"/>
          </a:p>
          <a:p>
            <a:pPr marL="0" indent="0">
              <a:spcAft>
                <a:spcPts val="400"/>
              </a:spcAft>
              <a:buNone/>
            </a:pPr>
            <a:r>
              <a:rPr lang="en-US" sz="1600" dirty="0">
                <a:solidFill>
                  <a:srgbClr val="AAB5E8"/>
                </a:solidFill>
                <a:latin typeface="Calibri" pitchFamily="34" charset="0"/>
                <a:ea typeface="Calibri" pitchFamily="34" charset="-122"/>
                <a:cs typeface="Calibri" pitchFamily="34" charset="-120"/>
              </a:rPr>
              <a:t>Специалност: Компютърно и софтуерно инженерство</a:t>
            </a:r>
            <a:endParaRPr lang="en-US" sz="16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1F3B"/>
                </a:solidFill>
                <a:latin typeface="Calibri" pitchFamily="34" charset="0"/>
                <a:ea typeface="Calibri" pitchFamily="34" charset="-122"/>
                <a:cs typeface="Calibri" pitchFamily="34" charset="-120"/>
              </a:rPr>
              <a:t>Архитектура и </a:t>
            </a:r>
            <a:r>
              <a:rPr lang="bg-BG" sz="3000" b="1" dirty="0">
                <a:solidFill>
                  <a:srgbClr val="1B1F3B"/>
                </a:solidFill>
                <a:latin typeface="Calibri" pitchFamily="34" charset="0"/>
                <a:ea typeface="Calibri" pitchFamily="34" charset="-122"/>
                <a:cs typeface="Calibri" pitchFamily="34" charset="-120"/>
              </a:rPr>
              <a:t>използвани технологии</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r>
              <a:rPr lang="en-US" sz="1400" dirty="0">
                <a:solidFill>
                  <a:srgbClr val="5B6485"/>
                </a:solidFill>
                <a:latin typeface="Calibri" pitchFamily="34" charset="0"/>
                <a:ea typeface="Calibri" pitchFamily="34" charset="-122"/>
                <a:cs typeface="Calibri" pitchFamily="34" charset="-120"/>
              </a:rPr>
              <a:t>Spring Boot 4 · Java 21 · REST API · MySQL · Hibernate · Thymeleaf </a:t>
            </a:r>
            <a:endParaRPr lang="en-US" sz="1400" dirty="0"/>
          </a:p>
        </p:txBody>
      </p:sp>
      <p:sp>
        <p:nvSpPr>
          <p:cNvPr id="4" name="Shape 2"/>
          <p:cNvSpPr/>
          <p:nvPr/>
        </p:nvSpPr>
        <p:spPr>
          <a:xfrm>
            <a:off x="640080" y="2011680"/>
            <a:ext cx="5852160" cy="585216"/>
          </a:xfrm>
          <a:prstGeom prst="roundRect">
            <a:avLst>
              <a:gd name="adj" fmla="val 12500"/>
            </a:avLst>
          </a:prstGeom>
          <a:solidFill>
            <a:srgbClr val="F4F6FC"/>
          </a:solidFill>
          <a:ln/>
        </p:spPr>
        <p:txBody>
          <a:bodyPr/>
          <a:lstStyle/>
          <a:p>
            <a:endParaRPr lang="en-US"/>
          </a:p>
        </p:txBody>
      </p:sp>
      <p:sp>
        <p:nvSpPr>
          <p:cNvPr id="5" name="Text 3"/>
          <p:cNvSpPr/>
          <p:nvPr/>
        </p:nvSpPr>
        <p:spPr>
          <a:xfrm>
            <a:off x="868680" y="2011680"/>
            <a:ext cx="1737360" cy="58521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connector</a:t>
            </a:r>
            <a:endParaRPr lang="en-US" sz="1500" dirty="0"/>
          </a:p>
        </p:txBody>
      </p:sp>
      <p:sp>
        <p:nvSpPr>
          <p:cNvPr id="6" name="Text 4"/>
          <p:cNvSpPr/>
          <p:nvPr/>
        </p:nvSpPr>
        <p:spPr>
          <a:xfrm>
            <a:off x="2606040" y="2011680"/>
            <a:ext cx="3749040" cy="585216"/>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Управление </a:t>
            </a:r>
            <a:r>
              <a:rPr lang="bg-BG" sz="1250" dirty="0">
                <a:solidFill>
                  <a:srgbClr val="1B1F3B"/>
                </a:solidFill>
                <a:latin typeface="Calibri" pitchFamily="34" charset="0"/>
                <a:ea typeface="Calibri" pitchFamily="34" charset="-122"/>
                <a:cs typeface="Calibri" pitchFamily="34" charset="-120"/>
              </a:rPr>
              <a:t>на</a:t>
            </a:r>
            <a:r>
              <a:rPr lang="en-US" sz="1250" dirty="0">
                <a:solidFill>
                  <a:srgbClr val="1B1F3B"/>
                </a:solidFill>
                <a:latin typeface="Calibri" pitchFamily="34" charset="0"/>
                <a:ea typeface="Calibri" pitchFamily="34" charset="-122"/>
                <a:cs typeface="Calibri" pitchFamily="34" charset="-120"/>
              </a:rPr>
              <a:t> </a:t>
            </a:r>
            <a:r>
              <a:rPr lang="bg-BG" sz="1250" dirty="0">
                <a:solidFill>
                  <a:srgbClr val="1B1F3B"/>
                </a:solidFill>
                <a:latin typeface="Calibri" pitchFamily="34" charset="0"/>
                <a:ea typeface="Calibri" pitchFamily="34" charset="-122"/>
                <a:cs typeface="Calibri" pitchFamily="34" charset="-120"/>
              </a:rPr>
              <a:t>конектори</a:t>
            </a:r>
            <a:r>
              <a:rPr lang="en-US" sz="1250" dirty="0">
                <a:solidFill>
                  <a:srgbClr val="1B1F3B"/>
                </a:solidFill>
                <a:latin typeface="Calibri" pitchFamily="34" charset="0"/>
                <a:ea typeface="Calibri" pitchFamily="34" charset="-122"/>
                <a:cs typeface="Calibri" pitchFamily="34" charset="-120"/>
              </a:rPr>
              <a:t> </a:t>
            </a:r>
            <a:r>
              <a:rPr lang="bg-BG" sz="1250" dirty="0">
                <a:solidFill>
                  <a:srgbClr val="1B1F3B"/>
                </a:solidFill>
                <a:latin typeface="Calibri" pitchFamily="34" charset="0"/>
                <a:ea typeface="Calibri" pitchFamily="34" charset="-122"/>
                <a:cs typeface="Calibri" pitchFamily="34" charset="-120"/>
              </a:rPr>
              <a:t>към</a:t>
            </a:r>
            <a:r>
              <a:rPr lang="en-US" sz="1250" dirty="0">
                <a:solidFill>
                  <a:srgbClr val="1B1F3B"/>
                </a:solidFill>
                <a:latin typeface="Calibri" pitchFamily="34" charset="0"/>
                <a:ea typeface="Calibri" pitchFamily="34" charset="-122"/>
                <a:cs typeface="Calibri" pitchFamily="34" charset="-120"/>
              </a:rPr>
              <a:t> бази данни</a:t>
            </a:r>
            <a:endParaRPr lang="en-US" sz="1250" dirty="0"/>
          </a:p>
        </p:txBody>
      </p:sp>
      <p:sp>
        <p:nvSpPr>
          <p:cNvPr id="7" name="Shape 5"/>
          <p:cNvSpPr/>
          <p:nvPr/>
        </p:nvSpPr>
        <p:spPr>
          <a:xfrm>
            <a:off x="640080" y="2724912"/>
            <a:ext cx="5852160" cy="585216"/>
          </a:xfrm>
          <a:prstGeom prst="roundRect">
            <a:avLst>
              <a:gd name="adj" fmla="val 12500"/>
            </a:avLst>
          </a:prstGeom>
          <a:solidFill>
            <a:srgbClr val="F4F6FC"/>
          </a:solidFill>
          <a:ln/>
        </p:spPr>
        <p:txBody>
          <a:bodyPr/>
          <a:lstStyle/>
          <a:p>
            <a:endParaRPr lang="en-US"/>
          </a:p>
        </p:txBody>
      </p:sp>
      <p:sp>
        <p:nvSpPr>
          <p:cNvPr id="8" name="Text 6"/>
          <p:cNvSpPr/>
          <p:nvPr/>
        </p:nvSpPr>
        <p:spPr>
          <a:xfrm>
            <a:off x="868680" y="2724912"/>
            <a:ext cx="1737360" cy="58521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scan</a:t>
            </a:r>
            <a:endParaRPr lang="en-US" sz="1500" dirty="0"/>
          </a:p>
        </p:txBody>
      </p:sp>
      <p:sp>
        <p:nvSpPr>
          <p:cNvPr id="9" name="Text 7"/>
          <p:cNvSpPr/>
          <p:nvPr/>
        </p:nvSpPr>
        <p:spPr>
          <a:xfrm>
            <a:off x="2606040" y="2724912"/>
            <a:ext cx="3749040" cy="585216"/>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Извличане на метаданни</a:t>
            </a:r>
            <a:endParaRPr lang="en-US" sz="1250" dirty="0"/>
          </a:p>
        </p:txBody>
      </p:sp>
      <p:sp>
        <p:nvSpPr>
          <p:cNvPr id="10" name="Shape 8"/>
          <p:cNvSpPr/>
          <p:nvPr/>
        </p:nvSpPr>
        <p:spPr>
          <a:xfrm>
            <a:off x="640080" y="3438144"/>
            <a:ext cx="5852160" cy="585216"/>
          </a:xfrm>
          <a:prstGeom prst="roundRect">
            <a:avLst>
              <a:gd name="adj" fmla="val 12500"/>
            </a:avLst>
          </a:prstGeom>
          <a:solidFill>
            <a:srgbClr val="F4F6FC"/>
          </a:solidFill>
          <a:ln/>
        </p:spPr>
        <p:txBody>
          <a:bodyPr/>
          <a:lstStyle/>
          <a:p>
            <a:endParaRPr lang="en-US"/>
          </a:p>
        </p:txBody>
      </p:sp>
      <p:sp>
        <p:nvSpPr>
          <p:cNvPr id="11" name="Text 9"/>
          <p:cNvSpPr/>
          <p:nvPr/>
        </p:nvSpPr>
        <p:spPr>
          <a:xfrm>
            <a:off x="868680" y="3438144"/>
            <a:ext cx="1737360" cy="58521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transformation</a:t>
            </a:r>
            <a:endParaRPr lang="en-US" sz="1500" dirty="0"/>
          </a:p>
        </p:txBody>
      </p:sp>
      <p:sp>
        <p:nvSpPr>
          <p:cNvPr id="12" name="Text 10"/>
          <p:cNvSpPr/>
          <p:nvPr/>
        </p:nvSpPr>
        <p:spPr>
          <a:xfrm>
            <a:off x="2606040" y="3438144"/>
            <a:ext cx="3749040" cy="585216"/>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Моделиране на промени по схемата</a:t>
            </a:r>
            <a:endParaRPr lang="en-US" sz="1250" dirty="0"/>
          </a:p>
        </p:txBody>
      </p:sp>
      <p:sp>
        <p:nvSpPr>
          <p:cNvPr id="13" name="Shape 11"/>
          <p:cNvSpPr/>
          <p:nvPr/>
        </p:nvSpPr>
        <p:spPr>
          <a:xfrm>
            <a:off x="640080" y="4151376"/>
            <a:ext cx="5852160" cy="585216"/>
          </a:xfrm>
          <a:prstGeom prst="roundRect">
            <a:avLst>
              <a:gd name="adj" fmla="val 12500"/>
            </a:avLst>
          </a:prstGeom>
          <a:solidFill>
            <a:srgbClr val="F4F6FC"/>
          </a:solidFill>
          <a:ln/>
        </p:spPr>
        <p:txBody>
          <a:bodyPr/>
          <a:lstStyle/>
          <a:p>
            <a:endParaRPr lang="en-US"/>
          </a:p>
        </p:txBody>
      </p:sp>
      <p:sp>
        <p:nvSpPr>
          <p:cNvPr id="14" name="Text 12"/>
          <p:cNvSpPr/>
          <p:nvPr/>
        </p:nvSpPr>
        <p:spPr>
          <a:xfrm>
            <a:off x="868680" y="4151376"/>
            <a:ext cx="1737360" cy="58521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execution</a:t>
            </a:r>
            <a:endParaRPr lang="en-US" sz="1500" dirty="0"/>
          </a:p>
        </p:txBody>
      </p:sp>
      <p:sp>
        <p:nvSpPr>
          <p:cNvPr id="15" name="Text 13"/>
          <p:cNvSpPr/>
          <p:nvPr/>
        </p:nvSpPr>
        <p:spPr>
          <a:xfrm>
            <a:off x="2606040" y="4151376"/>
            <a:ext cx="3749040" cy="585216"/>
          </a:xfrm>
          <a:prstGeom prst="rect">
            <a:avLst/>
          </a:prstGeom>
          <a:noFill/>
          <a:ln/>
        </p:spPr>
        <p:txBody>
          <a:bodyPr wrap="square" lIns="0" tIns="0" rIns="0" bIns="0" rtlCol="0" anchor="ctr"/>
          <a:lstStyle/>
          <a:p>
            <a:pPr marL="0" indent="0">
              <a:buNone/>
            </a:pPr>
            <a:r>
              <a:rPr lang="bg-BG" sz="1250" dirty="0">
                <a:solidFill>
                  <a:srgbClr val="1B1F3B"/>
                </a:solidFill>
                <a:latin typeface="Calibri" pitchFamily="34" charset="0"/>
                <a:ea typeface="Calibri" pitchFamily="34" charset="-122"/>
                <a:cs typeface="Calibri" pitchFamily="34" charset="-120"/>
              </a:rPr>
              <a:t>Изпълнение на миграцията </a:t>
            </a:r>
            <a:r>
              <a:rPr lang="en-US" sz="1250" dirty="0">
                <a:solidFill>
                  <a:srgbClr val="1B1F3B"/>
                </a:solidFill>
                <a:latin typeface="Calibri" pitchFamily="34" charset="0"/>
                <a:ea typeface="Calibri" pitchFamily="34" charset="-122"/>
                <a:cs typeface="Calibri" pitchFamily="34" charset="-120"/>
              </a:rPr>
              <a:t>(DAG + </a:t>
            </a:r>
            <a:r>
              <a:rPr lang="bg-BG" sz="1250" dirty="0">
                <a:solidFill>
                  <a:srgbClr val="1B1F3B"/>
                </a:solidFill>
                <a:latin typeface="Calibri" pitchFamily="34" charset="0"/>
                <a:ea typeface="Calibri" pitchFamily="34" charset="-122"/>
                <a:cs typeface="Calibri" pitchFamily="34" charset="-120"/>
              </a:rPr>
              <a:t>оркестратор</a:t>
            </a:r>
            <a:r>
              <a:rPr lang="en-US" sz="1250" dirty="0">
                <a:solidFill>
                  <a:srgbClr val="1B1F3B"/>
                </a:solidFill>
                <a:latin typeface="Calibri" pitchFamily="34" charset="0"/>
                <a:ea typeface="Calibri" pitchFamily="34" charset="-122"/>
                <a:cs typeface="Calibri" pitchFamily="34" charset="-120"/>
              </a:rPr>
              <a:t>)</a:t>
            </a:r>
            <a:endParaRPr lang="en-US" sz="1250" dirty="0"/>
          </a:p>
        </p:txBody>
      </p:sp>
      <p:sp>
        <p:nvSpPr>
          <p:cNvPr id="16" name="Shape 14"/>
          <p:cNvSpPr/>
          <p:nvPr/>
        </p:nvSpPr>
        <p:spPr>
          <a:xfrm>
            <a:off x="640080" y="4864608"/>
            <a:ext cx="5852160" cy="585216"/>
          </a:xfrm>
          <a:prstGeom prst="roundRect">
            <a:avLst>
              <a:gd name="adj" fmla="val 12500"/>
            </a:avLst>
          </a:prstGeom>
          <a:solidFill>
            <a:srgbClr val="F4F6FC"/>
          </a:solidFill>
          <a:ln/>
        </p:spPr>
        <p:txBody>
          <a:bodyPr/>
          <a:lstStyle/>
          <a:p>
            <a:endParaRPr lang="en-US"/>
          </a:p>
        </p:txBody>
      </p:sp>
      <p:sp>
        <p:nvSpPr>
          <p:cNvPr id="17" name="Text 15"/>
          <p:cNvSpPr/>
          <p:nvPr/>
        </p:nvSpPr>
        <p:spPr>
          <a:xfrm>
            <a:off x="868680" y="4864608"/>
            <a:ext cx="1737360" cy="58521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auth</a:t>
            </a:r>
            <a:endParaRPr lang="en-US" sz="1500" dirty="0"/>
          </a:p>
        </p:txBody>
      </p:sp>
      <p:sp>
        <p:nvSpPr>
          <p:cNvPr id="18" name="Text 16"/>
          <p:cNvSpPr/>
          <p:nvPr/>
        </p:nvSpPr>
        <p:spPr>
          <a:xfrm>
            <a:off x="2606040" y="4864608"/>
            <a:ext cx="3749040" cy="585216"/>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JWT, роли, </a:t>
            </a:r>
            <a:r>
              <a:rPr lang="bg-BG" sz="1250" dirty="0">
                <a:solidFill>
                  <a:srgbClr val="1B1F3B"/>
                </a:solidFill>
                <a:latin typeface="Calibri" pitchFamily="34" charset="0"/>
                <a:ea typeface="Calibri" pitchFamily="34" charset="-122"/>
                <a:cs typeface="Calibri" pitchFamily="34" charset="-120"/>
              </a:rPr>
              <a:t>многопотребителски интерфейс</a:t>
            </a:r>
            <a:endParaRPr lang="en-US" sz="1250" dirty="0"/>
          </a:p>
        </p:txBody>
      </p:sp>
      <p:sp>
        <p:nvSpPr>
          <p:cNvPr id="19" name="Shape 17"/>
          <p:cNvSpPr/>
          <p:nvPr/>
        </p:nvSpPr>
        <p:spPr>
          <a:xfrm>
            <a:off x="6858000" y="2011680"/>
            <a:ext cx="4663440" cy="3438144"/>
          </a:xfrm>
          <a:prstGeom prst="roundRect">
            <a:avLst>
              <a:gd name="adj" fmla="val 2660"/>
            </a:avLst>
          </a:prstGeom>
          <a:solidFill>
            <a:srgbClr val="1E2761"/>
          </a:solidFill>
          <a:ln/>
          <a:effectLst>
            <a:outerShdw blurRad="101600" dist="38100" dir="2700000" algn="bl" rotWithShape="0">
              <a:srgbClr val="1E2761">
                <a:alpha val="12000"/>
              </a:srgbClr>
            </a:outerShdw>
          </a:effectLst>
        </p:spPr>
        <p:txBody>
          <a:bodyPr/>
          <a:lstStyle/>
          <a:p>
            <a:endParaRPr lang="en-US"/>
          </a:p>
        </p:txBody>
      </p:sp>
      <p:sp>
        <p:nvSpPr>
          <p:cNvPr id="20" name="Shape 18"/>
          <p:cNvSpPr/>
          <p:nvPr/>
        </p:nvSpPr>
        <p:spPr>
          <a:xfrm>
            <a:off x="7178040" y="2286000"/>
            <a:ext cx="502920" cy="502920"/>
          </a:xfrm>
          <a:prstGeom prst="ellipse">
            <a:avLst/>
          </a:prstGeom>
          <a:solidFill>
            <a:srgbClr val="2C3A7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7243420" y="2351380"/>
            <a:ext cx="372161" cy="372161"/>
          </a:xfrm>
          <a:prstGeom prst="rect">
            <a:avLst/>
          </a:prstGeom>
        </p:spPr>
      </p:pic>
      <p:sp>
        <p:nvSpPr>
          <p:cNvPr id="22" name="Text 19"/>
          <p:cNvSpPr/>
          <p:nvPr/>
        </p:nvSpPr>
        <p:spPr>
          <a:xfrm>
            <a:off x="7178040" y="3015673"/>
            <a:ext cx="40233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Domain-Driven Design (DDD)</a:t>
            </a:r>
            <a:r>
              <a:rPr lang="bg-BG" sz="1500" b="1" dirty="0">
                <a:solidFill>
                  <a:srgbClr val="FFFFFF"/>
                </a:solidFill>
                <a:latin typeface="Calibri" pitchFamily="34" charset="0"/>
                <a:ea typeface="Calibri" pitchFamily="34" charset="-122"/>
                <a:cs typeface="Calibri" pitchFamily="34" charset="-120"/>
              </a:rPr>
              <a:t> + </a:t>
            </a:r>
            <a:r>
              <a:rPr lang="en-US" sz="1500" b="1" dirty="0">
                <a:solidFill>
                  <a:srgbClr val="FFFFFF"/>
                </a:solidFill>
                <a:latin typeface="Calibri" pitchFamily="34" charset="0"/>
                <a:ea typeface="Calibri" pitchFamily="34" charset="-122"/>
                <a:cs typeface="Calibri" pitchFamily="34" charset="-120"/>
              </a:rPr>
              <a:t>Layered Architecture </a:t>
            </a:r>
            <a:endParaRPr lang="en-US" sz="1500" dirty="0"/>
          </a:p>
        </p:txBody>
      </p:sp>
      <p:sp>
        <p:nvSpPr>
          <p:cNvPr id="23" name="Text 20"/>
          <p:cNvSpPr/>
          <p:nvPr/>
        </p:nvSpPr>
        <p:spPr>
          <a:xfrm>
            <a:off x="7178040" y="3383280"/>
            <a:ext cx="4023360" cy="2011680"/>
          </a:xfrm>
          <a:prstGeom prst="rect">
            <a:avLst/>
          </a:prstGeom>
          <a:noFill/>
          <a:ln/>
        </p:spPr>
        <p:txBody>
          <a:bodyPr wrap="square" lIns="0" tIns="0" rIns="0" bIns="0" rtlCol="0" anchor="ctr"/>
          <a:lstStyle/>
          <a:p>
            <a:pPr marL="342900" indent="-342900">
              <a:spcAft>
                <a:spcPts val="1000"/>
              </a:spcAft>
              <a:buSzPct val="100000"/>
              <a:buChar char="•"/>
            </a:pPr>
            <a:r>
              <a:rPr lang="bg-BG" sz="1200" dirty="0">
                <a:solidFill>
                  <a:srgbClr val="CADCFC"/>
                </a:solidFill>
                <a:latin typeface="Calibri" pitchFamily="34" charset="0"/>
                <a:cs typeface="Calibri" pitchFamily="34" charset="-120"/>
              </a:rPr>
              <a:t>Проекта е разбит на 5 малки функционално ориентирани модули (домейни)</a:t>
            </a:r>
            <a:endParaRPr lang="en-US" sz="1200" dirty="0"/>
          </a:p>
          <a:p>
            <a:pPr marL="342900" indent="-342900">
              <a:spcAft>
                <a:spcPts val="1000"/>
              </a:spcAft>
              <a:buSzPct val="100000"/>
              <a:buChar char="•"/>
            </a:pPr>
            <a:r>
              <a:rPr lang="bg-BG" sz="1200" dirty="0">
                <a:solidFill>
                  <a:srgbClr val="CADCFC"/>
                </a:solidFill>
                <a:latin typeface="Calibri" pitchFamily="34" charset="0"/>
                <a:ea typeface="Calibri" pitchFamily="34" charset="-122"/>
                <a:cs typeface="Calibri" pitchFamily="34" charset="-120"/>
              </a:rPr>
              <a:t>Всеки домейн е реализиран чрез слоеста архитектура</a:t>
            </a:r>
          </a:p>
          <a:p>
            <a:pPr marL="342900" indent="-342900">
              <a:spcAft>
                <a:spcPts val="1000"/>
              </a:spcAft>
              <a:buSzPct val="100000"/>
              <a:buChar char="•"/>
            </a:pPr>
            <a:r>
              <a:rPr lang="bg-BG" sz="1200" dirty="0">
                <a:solidFill>
                  <a:srgbClr val="CADCFC"/>
                </a:solidFill>
                <a:latin typeface="Calibri" pitchFamily="34" charset="0"/>
                <a:cs typeface="Calibri" pitchFamily="34" charset="-120"/>
              </a:rPr>
              <a:t>4те слоя във всеки домейн са - слой за представяне, слой на бизнес логиката, </a:t>
            </a:r>
            <a:r>
              <a:rPr lang="ru-RU" sz="1200" dirty="0">
                <a:solidFill>
                  <a:srgbClr val="CADCFC"/>
                </a:solidFill>
                <a:latin typeface="Calibri" pitchFamily="34" charset="0"/>
                <a:cs typeface="Calibri" pitchFamily="34" charset="-120"/>
              </a:rPr>
              <a:t>слой за достъп до данни, слой на базата данни </a:t>
            </a:r>
            <a:endParaRPr lang="en-US" sz="12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640080"/>
          </a:xfrm>
          <a:prstGeom prst="rect">
            <a:avLst/>
          </a:prstGeom>
          <a:noFill/>
        </p:spPr>
        <p:txBody>
          <a:bodyPr wrap="square" lIns="0" tIns="0" rIns="0" bIns="0" anchor="t">
            <a:spAutoFit/>
          </a:bodyPr>
          <a:lstStyle/>
          <a:p>
            <a:pPr algn="l"/>
            <a:r>
              <a:rPr sz="3000" b="1" i="0">
                <a:solidFill>
                  <a:srgbClr val="1B1F3B"/>
                </a:solidFill>
                <a:latin typeface="Calibri"/>
              </a:rPr>
              <a:t>Управление на Конектори</a:t>
            </a:r>
          </a:p>
        </p:txBody>
      </p:sp>
      <p:sp>
        <p:nvSpPr>
          <p:cNvPr id="3" name="TextBox 2"/>
          <p:cNvSpPr txBox="1"/>
          <p:nvPr/>
        </p:nvSpPr>
        <p:spPr>
          <a:xfrm>
            <a:off x="640080" y="1051560"/>
            <a:ext cx="10881360" cy="365760"/>
          </a:xfrm>
          <a:prstGeom prst="rect">
            <a:avLst/>
          </a:prstGeom>
          <a:noFill/>
        </p:spPr>
        <p:txBody>
          <a:bodyPr wrap="square" lIns="0" tIns="0" rIns="0" bIns="0" anchor="t">
            <a:spAutoFit/>
          </a:bodyPr>
          <a:lstStyle/>
          <a:p>
            <a:pPr algn="l"/>
            <a:r>
              <a:rPr sz="1400" b="0" i="0">
                <a:solidFill>
                  <a:srgbClr val="5B6485"/>
                </a:solidFill>
                <a:latin typeface="Calibri"/>
              </a:rPr>
              <a:t>От заявка до жива връзка с базата данни — какво се случва зад кулисите</a:t>
            </a:r>
          </a:p>
        </p:txBody>
      </p:sp>
      <p:sp>
        <p:nvSpPr>
          <p:cNvPr id="4" name="Rounded Rectangle 3"/>
          <p:cNvSpPr/>
          <p:nvPr/>
        </p:nvSpPr>
        <p:spPr>
          <a:xfrm>
            <a:off x="64008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y_navy.png"/>
          <p:cNvPicPr>
            <a:picLocks noChangeAspect="1"/>
          </p:cNvPicPr>
          <p:nvPr/>
        </p:nvPicPr>
        <p:blipFill>
          <a:blip r:embed="rId3"/>
          <a:stretch>
            <a:fillRect/>
          </a:stretch>
        </p:blipFill>
        <p:spPr>
          <a:xfrm>
            <a:off x="934059" y="1985619"/>
            <a:ext cx="372160" cy="372160"/>
          </a:xfrm>
          <a:prstGeom prst="rect">
            <a:avLst/>
          </a:prstGeom>
        </p:spPr>
      </p:pic>
      <p:sp>
        <p:nvSpPr>
          <p:cNvPr id="7" name="TextBox 6"/>
          <p:cNvSpPr txBox="1"/>
          <p:nvPr/>
        </p:nvSpPr>
        <p:spPr>
          <a:xfrm>
            <a:off x="868680" y="2560320"/>
            <a:ext cx="2057400" cy="365760"/>
          </a:xfrm>
          <a:prstGeom prst="rect">
            <a:avLst/>
          </a:prstGeom>
          <a:noFill/>
        </p:spPr>
        <p:txBody>
          <a:bodyPr wrap="square" lIns="0" tIns="0" rIns="0" bIns="0" anchor="t">
            <a:spAutoFit/>
          </a:bodyPr>
          <a:lstStyle/>
          <a:p>
            <a:pPr algn="l"/>
            <a:r>
              <a:rPr sz="1350" b="1" i="0">
                <a:solidFill>
                  <a:srgbClr val="1E2761"/>
                </a:solidFill>
                <a:latin typeface="Calibri"/>
              </a:rPr>
              <a:t>1. Криптиране</a:t>
            </a:r>
          </a:p>
        </p:txBody>
      </p:sp>
      <p:sp>
        <p:nvSpPr>
          <p:cNvPr id="8" name="TextBox 7"/>
          <p:cNvSpPr txBox="1"/>
          <p:nvPr/>
        </p:nvSpPr>
        <p:spPr>
          <a:xfrm>
            <a:off x="868680" y="2953512"/>
            <a:ext cx="2057400" cy="777240"/>
          </a:xfrm>
          <a:prstGeom prst="rect">
            <a:avLst/>
          </a:prstGeom>
          <a:noFill/>
        </p:spPr>
        <p:txBody>
          <a:bodyPr wrap="square" lIns="0" tIns="0" rIns="0" bIns="0" anchor="t">
            <a:spAutoFit/>
          </a:bodyPr>
          <a:lstStyle/>
          <a:p>
            <a:pPr algn="l">
              <a:lnSpc>
                <a:spcPct val="105000"/>
              </a:lnSpc>
            </a:pPr>
            <a:r>
              <a:rPr sz="1050" b="0" i="0" dirty="0" err="1">
                <a:solidFill>
                  <a:srgbClr val="1B1F3B"/>
                </a:solidFill>
                <a:latin typeface="Calibri"/>
              </a:rPr>
              <a:t>Паролата</a:t>
            </a:r>
            <a:r>
              <a:rPr sz="1050" b="0" i="0" dirty="0">
                <a:solidFill>
                  <a:srgbClr val="1B1F3B"/>
                </a:solidFill>
                <a:latin typeface="Calibri"/>
              </a:rPr>
              <a:t> се </a:t>
            </a:r>
            <a:r>
              <a:rPr sz="1050" b="0" i="0" dirty="0" err="1">
                <a:solidFill>
                  <a:srgbClr val="1B1F3B"/>
                </a:solidFill>
                <a:latin typeface="Calibri"/>
              </a:rPr>
              <a:t>криптира</a:t>
            </a:r>
            <a:r>
              <a:rPr sz="1050" b="0" i="0" dirty="0">
                <a:solidFill>
                  <a:srgbClr val="1B1F3B"/>
                </a:solidFill>
                <a:latin typeface="Calibri"/>
              </a:rPr>
              <a:t> с AES</a:t>
            </a:r>
            <a:r>
              <a:rPr lang="en-US" sz="1050" b="0" i="0" dirty="0">
                <a:solidFill>
                  <a:srgbClr val="1B1F3B"/>
                </a:solidFill>
                <a:latin typeface="Calibri"/>
              </a:rPr>
              <a:t> (</a:t>
            </a:r>
            <a:r>
              <a:rPr lang="en-US" sz="1050" b="0" i="0" dirty="0" err="1">
                <a:solidFill>
                  <a:srgbClr val="1B1F3B"/>
                </a:solidFill>
                <a:latin typeface="Calibri"/>
              </a:rPr>
              <a:t>EncryptionUtils</a:t>
            </a:r>
            <a:r>
              <a:rPr lang="en-US" sz="1050" b="0" i="0" dirty="0">
                <a:solidFill>
                  <a:srgbClr val="1B1F3B"/>
                </a:solidFill>
                <a:latin typeface="Calibri"/>
              </a:rPr>
              <a:t>) </a:t>
            </a:r>
            <a:r>
              <a:rPr sz="1050" b="0" i="0" dirty="0">
                <a:solidFill>
                  <a:srgbClr val="1B1F3B"/>
                </a:solidFill>
                <a:latin typeface="Calibri"/>
              </a:rPr>
              <a:t>преди да </a:t>
            </a:r>
            <a:r>
              <a:rPr sz="1050" b="0" i="0" dirty="0" err="1">
                <a:solidFill>
                  <a:srgbClr val="1B1F3B"/>
                </a:solidFill>
                <a:latin typeface="Calibri"/>
              </a:rPr>
              <a:t>бъде</a:t>
            </a:r>
            <a:r>
              <a:rPr sz="1050" b="0" i="0" dirty="0">
                <a:solidFill>
                  <a:srgbClr val="1B1F3B"/>
                </a:solidFill>
                <a:latin typeface="Calibri"/>
              </a:rPr>
              <a:t> </a:t>
            </a:r>
            <a:r>
              <a:rPr sz="1050" b="0" i="0" dirty="0" err="1">
                <a:solidFill>
                  <a:srgbClr val="1B1F3B"/>
                </a:solidFill>
                <a:latin typeface="Calibri"/>
              </a:rPr>
              <a:t>записана</a:t>
            </a:r>
            <a:r>
              <a:rPr sz="1050" b="0" i="0" dirty="0">
                <a:solidFill>
                  <a:srgbClr val="1B1F3B"/>
                </a:solidFill>
                <a:latin typeface="Calibri"/>
              </a:rPr>
              <a:t> в </a:t>
            </a:r>
            <a:r>
              <a:rPr sz="1050" b="0" i="0" dirty="0" err="1">
                <a:solidFill>
                  <a:srgbClr val="1B1F3B"/>
                </a:solidFill>
                <a:latin typeface="Calibri"/>
              </a:rPr>
              <a:t>базата</a:t>
            </a:r>
            <a:endParaRPr sz="1050" b="0" i="0" dirty="0">
              <a:solidFill>
                <a:srgbClr val="1B1F3B"/>
              </a:solidFill>
              <a:latin typeface="Calibri"/>
            </a:endParaRPr>
          </a:p>
        </p:txBody>
      </p:sp>
      <p:sp>
        <p:nvSpPr>
          <p:cNvPr id="9" name="Rounded Rectangle 8"/>
          <p:cNvSpPr/>
          <p:nvPr/>
        </p:nvSpPr>
        <p:spPr>
          <a:xfrm>
            <a:off x="342900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60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ink_navy.png"/>
          <p:cNvPicPr>
            <a:picLocks noChangeAspect="1"/>
          </p:cNvPicPr>
          <p:nvPr/>
        </p:nvPicPr>
        <p:blipFill>
          <a:blip r:embed="rId4"/>
          <a:stretch>
            <a:fillRect/>
          </a:stretch>
        </p:blipFill>
        <p:spPr>
          <a:xfrm>
            <a:off x="3722979" y="1985619"/>
            <a:ext cx="372160" cy="372160"/>
          </a:xfrm>
          <a:prstGeom prst="rect">
            <a:avLst/>
          </a:prstGeom>
        </p:spPr>
      </p:pic>
      <p:sp>
        <p:nvSpPr>
          <p:cNvPr id="12" name="TextBox 11"/>
          <p:cNvSpPr txBox="1"/>
          <p:nvPr/>
        </p:nvSpPr>
        <p:spPr>
          <a:xfrm>
            <a:off x="3657600" y="2560320"/>
            <a:ext cx="2057400" cy="365760"/>
          </a:xfrm>
          <a:prstGeom prst="rect">
            <a:avLst/>
          </a:prstGeom>
          <a:noFill/>
        </p:spPr>
        <p:txBody>
          <a:bodyPr wrap="square" lIns="0" tIns="0" rIns="0" bIns="0" anchor="t">
            <a:spAutoFit/>
          </a:bodyPr>
          <a:lstStyle/>
          <a:p>
            <a:pPr algn="l"/>
            <a:r>
              <a:rPr sz="1350" b="1" i="0">
                <a:solidFill>
                  <a:srgbClr val="1E2761"/>
                </a:solidFill>
                <a:latin typeface="Calibri"/>
              </a:rPr>
              <a:t>2. JDBC URL</a:t>
            </a:r>
          </a:p>
        </p:txBody>
      </p:sp>
      <p:sp>
        <p:nvSpPr>
          <p:cNvPr id="13" name="TextBox 12"/>
          <p:cNvSpPr txBox="1"/>
          <p:nvPr/>
        </p:nvSpPr>
        <p:spPr>
          <a:xfrm>
            <a:off x="3657600" y="2953512"/>
            <a:ext cx="2057400" cy="777240"/>
          </a:xfrm>
          <a:prstGeom prst="rect">
            <a:avLst/>
          </a:prstGeom>
          <a:noFill/>
        </p:spPr>
        <p:txBody>
          <a:bodyPr wrap="square" lIns="0" tIns="0" rIns="0" bIns="0" anchor="t">
            <a:spAutoFit/>
          </a:bodyPr>
          <a:lstStyle/>
          <a:p>
            <a:pPr algn="l">
              <a:lnSpc>
                <a:spcPct val="105000"/>
              </a:lnSpc>
            </a:pPr>
            <a:r>
              <a:rPr sz="1050" b="0" i="0">
                <a:solidFill>
                  <a:srgbClr val="1B1F3B"/>
                </a:solidFill>
                <a:latin typeface="Calibri"/>
              </a:rPr>
              <a:t>JdbcUtils изгражда връзката динамично според типа СУБД — MySQL, PostgreSQL или MSSQL</a:t>
            </a:r>
          </a:p>
        </p:txBody>
      </p:sp>
      <p:sp>
        <p:nvSpPr>
          <p:cNvPr id="14" name="Rounded Rectangle 13"/>
          <p:cNvSpPr/>
          <p:nvPr/>
        </p:nvSpPr>
        <p:spPr>
          <a:xfrm>
            <a:off x="621792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4652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plug_navy.png"/>
          <p:cNvPicPr>
            <a:picLocks noChangeAspect="1"/>
          </p:cNvPicPr>
          <p:nvPr/>
        </p:nvPicPr>
        <p:blipFill>
          <a:blip r:embed="rId5"/>
          <a:stretch>
            <a:fillRect/>
          </a:stretch>
        </p:blipFill>
        <p:spPr>
          <a:xfrm>
            <a:off x="6511899" y="1985619"/>
            <a:ext cx="372160" cy="372160"/>
          </a:xfrm>
          <a:prstGeom prst="rect">
            <a:avLst/>
          </a:prstGeom>
        </p:spPr>
      </p:pic>
      <p:sp>
        <p:nvSpPr>
          <p:cNvPr id="17" name="TextBox 16"/>
          <p:cNvSpPr txBox="1"/>
          <p:nvPr/>
        </p:nvSpPr>
        <p:spPr>
          <a:xfrm>
            <a:off x="6446520" y="2560320"/>
            <a:ext cx="2057400" cy="365760"/>
          </a:xfrm>
          <a:prstGeom prst="rect">
            <a:avLst/>
          </a:prstGeom>
          <a:noFill/>
        </p:spPr>
        <p:txBody>
          <a:bodyPr wrap="square" lIns="0" tIns="0" rIns="0" bIns="0" anchor="t">
            <a:spAutoFit/>
          </a:bodyPr>
          <a:lstStyle/>
          <a:p>
            <a:pPr algn="l"/>
            <a:r>
              <a:rPr sz="1350" b="1" i="0">
                <a:solidFill>
                  <a:srgbClr val="1E2761"/>
                </a:solidFill>
                <a:latin typeface="Calibri"/>
              </a:rPr>
              <a:t>3. testConnection()</a:t>
            </a:r>
          </a:p>
        </p:txBody>
      </p:sp>
      <p:sp>
        <p:nvSpPr>
          <p:cNvPr id="18" name="TextBox 17"/>
          <p:cNvSpPr txBox="1"/>
          <p:nvPr/>
        </p:nvSpPr>
        <p:spPr>
          <a:xfrm>
            <a:off x="6446520" y="2953512"/>
            <a:ext cx="2057400" cy="777240"/>
          </a:xfrm>
          <a:prstGeom prst="rect">
            <a:avLst/>
          </a:prstGeom>
          <a:noFill/>
        </p:spPr>
        <p:txBody>
          <a:bodyPr wrap="square" lIns="0" tIns="0" rIns="0" bIns="0" anchor="t">
            <a:spAutoFit/>
          </a:bodyPr>
          <a:lstStyle/>
          <a:p>
            <a:pPr algn="l">
              <a:lnSpc>
                <a:spcPct val="105000"/>
              </a:lnSpc>
            </a:pPr>
            <a:r>
              <a:rPr sz="1050" b="0" i="0">
                <a:solidFill>
                  <a:srgbClr val="1B1F3B"/>
                </a:solidFill>
                <a:latin typeface="Calibri"/>
              </a:rPr>
              <a:t>Отваря реална връзка, чете версията на базата данни и веднага я затваря</a:t>
            </a:r>
          </a:p>
        </p:txBody>
      </p:sp>
      <p:sp>
        <p:nvSpPr>
          <p:cNvPr id="19" name="Rounded Rectangle 18"/>
          <p:cNvSpPr/>
          <p:nvPr/>
        </p:nvSpPr>
        <p:spPr>
          <a:xfrm>
            <a:off x="9006839"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35439"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hare_navy.png"/>
          <p:cNvPicPr>
            <a:picLocks noChangeAspect="1"/>
          </p:cNvPicPr>
          <p:nvPr/>
        </p:nvPicPr>
        <p:blipFill>
          <a:blip r:embed="rId6"/>
          <a:stretch>
            <a:fillRect/>
          </a:stretch>
        </p:blipFill>
        <p:spPr>
          <a:xfrm>
            <a:off x="9300819" y="1985619"/>
            <a:ext cx="372160" cy="372160"/>
          </a:xfrm>
          <a:prstGeom prst="rect">
            <a:avLst/>
          </a:prstGeom>
        </p:spPr>
      </p:pic>
      <p:sp>
        <p:nvSpPr>
          <p:cNvPr id="22" name="TextBox 21"/>
          <p:cNvSpPr txBox="1"/>
          <p:nvPr/>
        </p:nvSpPr>
        <p:spPr>
          <a:xfrm>
            <a:off x="9235439" y="2560320"/>
            <a:ext cx="2057400" cy="365760"/>
          </a:xfrm>
          <a:prstGeom prst="rect">
            <a:avLst/>
          </a:prstGeom>
          <a:noFill/>
        </p:spPr>
        <p:txBody>
          <a:bodyPr wrap="square" lIns="0" tIns="0" rIns="0" bIns="0" anchor="t">
            <a:spAutoFit/>
          </a:bodyPr>
          <a:lstStyle/>
          <a:p>
            <a:pPr algn="l"/>
            <a:r>
              <a:rPr sz="1350" b="1" i="0">
                <a:solidFill>
                  <a:srgbClr val="1E2761"/>
                </a:solidFill>
                <a:latin typeface="Calibri"/>
              </a:rPr>
              <a:t>4. Изпълнение</a:t>
            </a:r>
          </a:p>
        </p:txBody>
      </p:sp>
      <p:sp>
        <p:nvSpPr>
          <p:cNvPr id="23" name="TextBox 22"/>
          <p:cNvSpPr txBox="1"/>
          <p:nvPr/>
        </p:nvSpPr>
        <p:spPr>
          <a:xfrm>
            <a:off x="9235439" y="2953512"/>
            <a:ext cx="2057400" cy="777240"/>
          </a:xfrm>
          <a:prstGeom prst="rect">
            <a:avLst/>
          </a:prstGeom>
          <a:noFill/>
        </p:spPr>
        <p:txBody>
          <a:bodyPr wrap="square" lIns="0" tIns="0" rIns="0" bIns="0" anchor="t">
            <a:spAutoFit/>
          </a:bodyPr>
          <a:lstStyle/>
          <a:p>
            <a:pPr algn="l">
              <a:lnSpc>
                <a:spcPct val="105000"/>
              </a:lnSpc>
            </a:pPr>
            <a:r>
              <a:rPr sz="1050" b="0" i="0">
                <a:solidFill>
                  <a:srgbClr val="1B1F3B"/>
                </a:solidFill>
                <a:latin typeface="Calibri"/>
              </a:rPr>
              <a:t>createConnectionPair() отваря едновременно връзка към източника и целта</a:t>
            </a:r>
          </a:p>
        </p:txBody>
      </p:sp>
      <p:sp>
        <p:nvSpPr>
          <p:cNvPr id="24" name="Rounded Rectangle 23"/>
          <p:cNvSpPr/>
          <p:nvPr/>
        </p:nvSpPr>
        <p:spPr>
          <a:xfrm>
            <a:off x="640080" y="3977639"/>
            <a:ext cx="5257800" cy="21488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68680" y="4233672"/>
            <a:ext cx="502920" cy="50292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ban_white.png"/>
          <p:cNvPicPr>
            <a:picLocks noChangeAspect="1"/>
          </p:cNvPicPr>
          <p:nvPr/>
        </p:nvPicPr>
        <p:blipFill>
          <a:blip r:embed="rId7"/>
          <a:stretch>
            <a:fillRect/>
          </a:stretch>
        </p:blipFill>
        <p:spPr>
          <a:xfrm>
            <a:off x="934059" y="4299051"/>
            <a:ext cx="372160" cy="372160"/>
          </a:xfrm>
          <a:prstGeom prst="rect">
            <a:avLst/>
          </a:prstGeom>
        </p:spPr>
      </p:pic>
      <p:sp>
        <p:nvSpPr>
          <p:cNvPr id="27" name="TextBox 26"/>
          <p:cNvSpPr txBox="1"/>
          <p:nvPr/>
        </p:nvSpPr>
        <p:spPr>
          <a:xfrm>
            <a:off x="868680" y="4892040"/>
            <a:ext cx="4800600" cy="365760"/>
          </a:xfrm>
          <a:prstGeom prst="rect">
            <a:avLst/>
          </a:prstGeom>
          <a:noFill/>
        </p:spPr>
        <p:txBody>
          <a:bodyPr wrap="square" lIns="0" tIns="0" rIns="0" bIns="0" anchor="t">
            <a:spAutoFit/>
          </a:bodyPr>
          <a:lstStyle/>
          <a:p>
            <a:pPr algn="l"/>
            <a:r>
              <a:rPr sz="1500" b="1" i="0">
                <a:solidFill>
                  <a:srgbClr val="FFFFFF"/>
                </a:solidFill>
                <a:latin typeface="Calibri"/>
              </a:rPr>
              <a:t>Защита от изтриване</a:t>
            </a:r>
          </a:p>
        </p:txBody>
      </p:sp>
      <p:sp>
        <p:nvSpPr>
          <p:cNvPr id="28" name="TextBox 27"/>
          <p:cNvSpPr txBox="1"/>
          <p:nvPr/>
        </p:nvSpPr>
        <p:spPr>
          <a:xfrm>
            <a:off x="868680" y="5276088"/>
            <a:ext cx="4800600" cy="777240"/>
          </a:xfrm>
          <a:prstGeom prst="rect">
            <a:avLst/>
          </a:prstGeom>
          <a:noFill/>
        </p:spPr>
        <p:txBody>
          <a:bodyPr wrap="square" lIns="0" tIns="0" rIns="0" bIns="0" anchor="t">
            <a:spAutoFit/>
          </a:bodyPr>
          <a:lstStyle/>
          <a:p>
            <a:pPr algn="l">
              <a:lnSpc>
                <a:spcPct val="110000"/>
              </a:lnSpc>
            </a:pPr>
            <a:r>
              <a:rPr sz="1100" b="0" i="0">
                <a:solidFill>
                  <a:srgbClr val="CADCFC"/>
                </a:solidFill>
                <a:latin typeface="Calibri"/>
              </a:rPr>
              <a:t>isConnectorInUse() проверява дали конекторът участва в активен процес на сканиране (SOURCE) или модел за трансформация (TARGET) — ако да, операцията се отказва</a:t>
            </a:r>
          </a:p>
        </p:txBody>
      </p:sp>
      <p:sp>
        <p:nvSpPr>
          <p:cNvPr id="29" name="Rounded Rectangle 28"/>
          <p:cNvSpPr/>
          <p:nvPr/>
        </p:nvSpPr>
        <p:spPr>
          <a:xfrm>
            <a:off x="6263640" y="3977639"/>
            <a:ext cx="5257800" cy="21488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92240" y="4233672"/>
            <a:ext cx="502920" cy="50292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lock_white.png"/>
          <p:cNvPicPr>
            <a:picLocks noChangeAspect="1"/>
          </p:cNvPicPr>
          <p:nvPr/>
        </p:nvPicPr>
        <p:blipFill>
          <a:blip r:embed="rId8"/>
          <a:stretch>
            <a:fillRect/>
          </a:stretch>
        </p:blipFill>
        <p:spPr>
          <a:xfrm>
            <a:off x="6557619" y="4299051"/>
            <a:ext cx="372160" cy="372160"/>
          </a:xfrm>
          <a:prstGeom prst="rect">
            <a:avLst/>
          </a:prstGeom>
        </p:spPr>
      </p:pic>
      <p:sp>
        <p:nvSpPr>
          <p:cNvPr id="32" name="TextBox 31"/>
          <p:cNvSpPr txBox="1"/>
          <p:nvPr/>
        </p:nvSpPr>
        <p:spPr>
          <a:xfrm>
            <a:off x="6492240" y="4892040"/>
            <a:ext cx="4800600" cy="365760"/>
          </a:xfrm>
          <a:prstGeom prst="rect">
            <a:avLst/>
          </a:prstGeom>
          <a:noFill/>
        </p:spPr>
        <p:txBody>
          <a:bodyPr wrap="square" lIns="0" tIns="0" rIns="0" bIns="0" anchor="t">
            <a:spAutoFit/>
          </a:bodyPr>
          <a:lstStyle/>
          <a:p>
            <a:pPr algn="l"/>
            <a:r>
              <a:rPr sz="1500" b="1" i="0">
                <a:solidFill>
                  <a:srgbClr val="FFFFFF"/>
                </a:solidFill>
                <a:latin typeface="Calibri"/>
              </a:rPr>
              <a:t>Сигурност на паролата</a:t>
            </a:r>
          </a:p>
        </p:txBody>
      </p:sp>
      <p:sp>
        <p:nvSpPr>
          <p:cNvPr id="33" name="TextBox 32"/>
          <p:cNvSpPr txBox="1"/>
          <p:nvPr/>
        </p:nvSpPr>
        <p:spPr>
          <a:xfrm>
            <a:off x="6492240" y="5276088"/>
            <a:ext cx="4800600" cy="777240"/>
          </a:xfrm>
          <a:prstGeom prst="rect">
            <a:avLst/>
          </a:prstGeom>
          <a:noFill/>
        </p:spPr>
        <p:txBody>
          <a:bodyPr wrap="square" lIns="0" tIns="0" rIns="0" bIns="0" anchor="t">
            <a:spAutoFit/>
          </a:bodyPr>
          <a:lstStyle/>
          <a:p>
            <a:pPr algn="l">
              <a:lnSpc>
                <a:spcPct val="110000"/>
              </a:lnSpc>
            </a:pPr>
            <a:r>
              <a:rPr sz="1100" b="0" i="0" dirty="0" err="1">
                <a:solidFill>
                  <a:srgbClr val="CADCFC"/>
                </a:solidFill>
                <a:latin typeface="Calibri"/>
              </a:rPr>
              <a:t>Паролата</a:t>
            </a:r>
            <a:r>
              <a:rPr sz="1100" b="0" i="0" dirty="0">
                <a:solidFill>
                  <a:srgbClr val="CADCFC"/>
                </a:solidFill>
                <a:latin typeface="Calibri"/>
              </a:rPr>
              <a:t> се </a:t>
            </a:r>
            <a:r>
              <a:rPr sz="1100" b="0" i="0" dirty="0" err="1">
                <a:solidFill>
                  <a:srgbClr val="CADCFC"/>
                </a:solidFill>
                <a:latin typeface="Calibri"/>
              </a:rPr>
              <a:t>декриптира</a:t>
            </a:r>
            <a:r>
              <a:rPr sz="1100" b="0" i="0" dirty="0">
                <a:solidFill>
                  <a:srgbClr val="CADCFC"/>
                </a:solidFill>
                <a:latin typeface="Calibri"/>
              </a:rPr>
              <a:t> </a:t>
            </a:r>
            <a:r>
              <a:rPr sz="1100" b="0" i="0" dirty="0" err="1">
                <a:solidFill>
                  <a:srgbClr val="CADCFC"/>
                </a:solidFill>
                <a:latin typeface="Calibri"/>
              </a:rPr>
              <a:t>само</a:t>
            </a:r>
            <a:r>
              <a:rPr sz="1100" b="0" i="0" dirty="0">
                <a:solidFill>
                  <a:srgbClr val="CADCFC"/>
                </a:solidFill>
                <a:latin typeface="Calibri"/>
              </a:rPr>
              <a:t> в </a:t>
            </a:r>
            <a:r>
              <a:rPr sz="1100" b="0" i="0" dirty="0" err="1">
                <a:solidFill>
                  <a:srgbClr val="CADCFC"/>
                </a:solidFill>
                <a:latin typeface="Calibri"/>
              </a:rPr>
              <a:t>паметта</a:t>
            </a:r>
            <a:r>
              <a:rPr sz="1100" b="0" i="0" dirty="0">
                <a:solidFill>
                  <a:srgbClr val="CADCFC"/>
                </a:solidFill>
                <a:latin typeface="Calibri"/>
              </a:rPr>
              <a:t>, </a:t>
            </a:r>
            <a:r>
              <a:rPr sz="1100" b="0" i="0" dirty="0" err="1">
                <a:solidFill>
                  <a:srgbClr val="CADCFC"/>
                </a:solidFill>
                <a:latin typeface="Calibri"/>
              </a:rPr>
              <a:t>непосредствено</a:t>
            </a:r>
            <a:r>
              <a:rPr sz="1100" b="0" i="0" dirty="0">
                <a:solidFill>
                  <a:srgbClr val="CADCFC"/>
                </a:solidFill>
                <a:latin typeface="Calibri"/>
              </a:rPr>
              <a:t> преди </a:t>
            </a:r>
            <a:r>
              <a:rPr sz="1100" b="0" i="0" dirty="0" err="1">
                <a:solidFill>
                  <a:srgbClr val="CADCFC"/>
                </a:solidFill>
                <a:latin typeface="Calibri"/>
              </a:rPr>
              <a:t>свързване</a:t>
            </a:r>
            <a:r>
              <a:rPr sz="1100" b="0" i="0" dirty="0">
                <a:solidFill>
                  <a:srgbClr val="CADCFC"/>
                </a:solidFill>
                <a:latin typeface="Calibri"/>
              </a:rPr>
              <a:t> — </a:t>
            </a:r>
            <a:r>
              <a:rPr sz="1100" b="0" i="0" dirty="0" err="1">
                <a:solidFill>
                  <a:srgbClr val="CADCFC"/>
                </a:solidFill>
                <a:latin typeface="Calibri"/>
              </a:rPr>
              <a:t>никога</a:t>
            </a:r>
            <a:r>
              <a:rPr sz="1100" b="0" i="0" dirty="0">
                <a:solidFill>
                  <a:srgbClr val="CADCFC"/>
                </a:solidFill>
                <a:latin typeface="Calibri"/>
              </a:rPr>
              <a:t> </a:t>
            </a:r>
            <a:r>
              <a:rPr sz="1100" b="0" i="0" dirty="0" err="1">
                <a:solidFill>
                  <a:srgbClr val="CADCFC"/>
                </a:solidFill>
                <a:latin typeface="Calibri"/>
              </a:rPr>
              <a:t>не</a:t>
            </a:r>
            <a:r>
              <a:rPr sz="1100" b="0" i="0" dirty="0">
                <a:solidFill>
                  <a:srgbClr val="CADCFC"/>
                </a:solidFill>
                <a:latin typeface="Calibri"/>
              </a:rPr>
              <a:t> се </a:t>
            </a:r>
            <a:r>
              <a:rPr sz="1100" b="0" i="0" dirty="0" err="1">
                <a:solidFill>
                  <a:srgbClr val="CADCFC"/>
                </a:solidFill>
                <a:latin typeface="Calibri"/>
              </a:rPr>
              <a:t>пази</a:t>
            </a:r>
            <a:r>
              <a:rPr sz="1100" b="0" i="0" dirty="0">
                <a:solidFill>
                  <a:srgbClr val="CADCFC"/>
                </a:solidFill>
                <a:latin typeface="Calibri"/>
              </a:rPr>
              <a:t> </a:t>
            </a:r>
            <a:r>
              <a:rPr sz="1100" b="0" i="0" dirty="0" err="1">
                <a:solidFill>
                  <a:srgbClr val="CADCFC"/>
                </a:solidFill>
                <a:latin typeface="Calibri"/>
              </a:rPr>
              <a:t>или</a:t>
            </a:r>
            <a:r>
              <a:rPr sz="1100" b="0" i="0" dirty="0">
                <a:solidFill>
                  <a:srgbClr val="CADCFC"/>
                </a:solidFill>
                <a:latin typeface="Calibri"/>
              </a:rPr>
              <a:t> </a:t>
            </a:r>
            <a:r>
              <a:rPr sz="1100" b="0" i="0" dirty="0" err="1">
                <a:solidFill>
                  <a:srgbClr val="CADCFC"/>
                </a:solidFill>
                <a:latin typeface="Calibri"/>
              </a:rPr>
              <a:t>предава</a:t>
            </a:r>
            <a:r>
              <a:rPr sz="1100" b="0" i="0" dirty="0">
                <a:solidFill>
                  <a:srgbClr val="CADCFC"/>
                </a:solidFill>
                <a:latin typeface="Calibri"/>
              </a:rPr>
              <a:t> в </a:t>
            </a:r>
            <a:r>
              <a:rPr sz="1100" b="0" i="0" dirty="0" err="1">
                <a:solidFill>
                  <a:srgbClr val="CADCFC"/>
                </a:solidFill>
                <a:latin typeface="Calibri"/>
              </a:rPr>
              <a:t>чист</a:t>
            </a:r>
            <a:r>
              <a:rPr sz="1100" b="0" i="0" dirty="0">
                <a:solidFill>
                  <a:srgbClr val="CADCFC"/>
                </a:solidFill>
                <a:latin typeface="Calibri"/>
              </a:rPr>
              <a:t> </a:t>
            </a:r>
            <a:r>
              <a:rPr sz="1100" b="0" i="0" dirty="0" err="1">
                <a:solidFill>
                  <a:srgbClr val="CADCFC"/>
                </a:solidFill>
                <a:latin typeface="Calibri"/>
              </a:rPr>
              <a:t>вид</a:t>
            </a:r>
            <a:endParaRPr sz="1100" b="0" i="0" dirty="0">
              <a:solidFill>
                <a:srgbClr val="CADCFC"/>
              </a:solidFill>
              <a:latin typeface="Calibri"/>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640080"/>
          </a:xfrm>
          <a:prstGeom prst="rect">
            <a:avLst/>
          </a:prstGeom>
          <a:noFill/>
        </p:spPr>
        <p:txBody>
          <a:bodyPr wrap="square" lIns="0" tIns="0" rIns="0" bIns="0" anchor="t">
            <a:spAutoFit/>
          </a:bodyPr>
          <a:lstStyle/>
          <a:p>
            <a:pPr algn="l"/>
            <a:r>
              <a:rPr sz="3000" b="1" i="0">
                <a:solidFill>
                  <a:srgbClr val="1B1F3B"/>
                </a:solidFill>
                <a:latin typeface="Calibri"/>
              </a:rPr>
              <a:t>Извличане на метаданни</a:t>
            </a:r>
          </a:p>
        </p:txBody>
      </p:sp>
      <p:sp>
        <p:nvSpPr>
          <p:cNvPr id="3" name="TextBox 2"/>
          <p:cNvSpPr txBox="1"/>
          <p:nvPr/>
        </p:nvSpPr>
        <p:spPr>
          <a:xfrm>
            <a:off x="640080" y="1051560"/>
            <a:ext cx="10881360" cy="215444"/>
          </a:xfrm>
          <a:prstGeom prst="rect">
            <a:avLst/>
          </a:prstGeom>
          <a:noFill/>
        </p:spPr>
        <p:txBody>
          <a:bodyPr wrap="square" lIns="0" tIns="0" rIns="0" bIns="0" anchor="t">
            <a:spAutoFit/>
          </a:bodyPr>
          <a:lstStyle/>
          <a:p>
            <a:pPr algn="l"/>
            <a:r>
              <a:rPr sz="1400" b="0" i="0" dirty="0" err="1">
                <a:solidFill>
                  <a:srgbClr val="5B6485"/>
                </a:solidFill>
                <a:latin typeface="Calibri"/>
              </a:rPr>
              <a:t>асинхронен</a:t>
            </a:r>
            <a:r>
              <a:rPr sz="1400" b="0" i="0" dirty="0">
                <a:solidFill>
                  <a:srgbClr val="5B6485"/>
                </a:solidFill>
                <a:latin typeface="Calibri"/>
              </a:rPr>
              <a:t> </a:t>
            </a:r>
            <a:r>
              <a:rPr sz="1400" b="0" i="0" dirty="0" err="1">
                <a:solidFill>
                  <a:srgbClr val="5B6485"/>
                </a:solidFill>
                <a:latin typeface="Calibri"/>
              </a:rPr>
              <a:t>процес</a:t>
            </a:r>
            <a:r>
              <a:rPr sz="1400" b="0" i="0" dirty="0">
                <a:solidFill>
                  <a:srgbClr val="5B6485"/>
                </a:solidFill>
                <a:latin typeface="Calibri"/>
              </a:rPr>
              <a:t> от </a:t>
            </a:r>
            <a:r>
              <a:rPr sz="1400" b="0" i="0" dirty="0" err="1">
                <a:solidFill>
                  <a:srgbClr val="5B6485"/>
                </a:solidFill>
                <a:latin typeface="Calibri"/>
              </a:rPr>
              <a:t>стартиране</a:t>
            </a:r>
            <a:r>
              <a:rPr sz="1400" b="0" i="0" dirty="0">
                <a:solidFill>
                  <a:srgbClr val="5B6485"/>
                </a:solidFill>
                <a:latin typeface="Calibri"/>
              </a:rPr>
              <a:t> </a:t>
            </a:r>
            <a:r>
              <a:rPr sz="1400" b="0" i="0" dirty="0" err="1">
                <a:solidFill>
                  <a:srgbClr val="5B6485"/>
                </a:solidFill>
                <a:latin typeface="Calibri"/>
              </a:rPr>
              <a:t>на</a:t>
            </a:r>
            <a:r>
              <a:rPr sz="1400" b="0" i="0" dirty="0">
                <a:solidFill>
                  <a:srgbClr val="5B6485"/>
                </a:solidFill>
                <a:latin typeface="Calibri"/>
              </a:rPr>
              <a:t> </a:t>
            </a:r>
            <a:r>
              <a:rPr sz="1400" b="0" i="0" dirty="0" err="1">
                <a:solidFill>
                  <a:srgbClr val="5B6485"/>
                </a:solidFill>
                <a:latin typeface="Calibri"/>
              </a:rPr>
              <a:t>заявка</a:t>
            </a:r>
            <a:r>
              <a:rPr sz="1400" b="0" i="0" dirty="0">
                <a:solidFill>
                  <a:srgbClr val="5B6485"/>
                </a:solidFill>
                <a:latin typeface="Calibri"/>
              </a:rPr>
              <a:t> </a:t>
            </a:r>
            <a:r>
              <a:rPr sz="1400" b="0" i="0" dirty="0" err="1">
                <a:solidFill>
                  <a:srgbClr val="5B6485"/>
                </a:solidFill>
                <a:latin typeface="Calibri"/>
              </a:rPr>
              <a:t>до</a:t>
            </a:r>
            <a:r>
              <a:rPr sz="1400" b="0" i="0" dirty="0">
                <a:solidFill>
                  <a:srgbClr val="5B6485"/>
                </a:solidFill>
                <a:latin typeface="Calibri"/>
              </a:rPr>
              <a:t> </a:t>
            </a:r>
            <a:r>
              <a:rPr sz="1400" b="0" i="0" dirty="0" err="1">
                <a:solidFill>
                  <a:srgbClr val="5B6485"/>
                </a:solidFill>
                <a:latin typeface="Calibri"/>
              </a:rPr>
              <a:t>пълна</a:t>
            </a:r>
            <a:r>
              <a:rPr lang="bg-BG" sz="1400" dirty="0">
                <a:solidFill>
                  <a:srgbClr val="5B6485"/>
                </a:solidFill>
                <a:latin typeface="Calibri"/>
              </a:rPr>
              <a:t>та информация за</a:t>
            </a:r>
            <a:r>
              <a:rPr sz="1400" b="0" i="0" dirty="0">
                <a:solidFill>
                  <a:srgbClr val="5B6485"/>
                </a:solidFill>
                <a:latin typeface="Calibri"/>
              </a:rPr>
              <a:t> </a:t>
            </a:r>
            <a:r>
              <a:rPr sz="1400" b="0" i="0" dirty="0" err="1">
                <a:solidFill>
                  <a:srgbClr val="5B6485"/>
                </a:solidFill>
                <a:latin typeface="Calibri"/>
              </a:rPr>
              <a:t>схема</a:t>
            </a:r>
            <a:r>
              <a:rPr lang="bg-BG" sz="1400" b="0" i="0" dirty="0">
                <a:solidFill>
                  <a:srgbClr val="5B6485"/>
                </a:solidFill>
                <a:latin typeface="Calibri"/>
              </a:rPr>
              <a:t>та</a:t>
            </a:r>
            <a:endParaRPr sz="1400" b="0" i="0" dirty="0">
              <a:solidFill>
                <a:srgbClr val="5B6485"/>
              </a:solidFill>
              <a:latin typeface="Calibri"/>
            </a:endParaRPr>
          </a:p>
        </p:txBody>
      </p:sp>
      <p:sp>
        <p:nvSpPr>
          <p:cNvPr id="4" name="Rounded Rectangle 3"/>
          <p:cNvSpPr/>
          <p:nvPr/>
        </p:nvSpPr>
        <p:spPr>
          <a:xfrm>
            <a:off x="64008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978406" y="1995325"/>
            <a:ext cx="372160" cy="372160"/>
          </a:xfrm>
          <a:prstGeom prst="rect">
            <a:avLst/>
          </a:prstGeom>
        </p:spPr>
      </p:pic>
      <p:sp>
        <p:nvSpPr>
          <p:cNvPr id="7" name="TextBox 6"/>
          <p:cNvSpPr txBox="1"/>
          <p:nvPr/>
        </p:nvSpPr>
        <p:spPr>
          <a:xfrm>
            <a:off x="86868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1. Старт (RUNNING)</a:t>
            </a:r>
          </a:p>
        </p:txBody>
      </p:sp>
      <p:sp>
        <p:nvSpPr>
          <p:cNvPr id="8" name="TextBox 7"/>
          <p:cNvSpPr txBox="1"/>
          <p:nvPr/>
        </p:nvSpPr>
        <p:spPr>
          <a:xfrm>
            <a:off x="868680" y="3017520"/>
            <a:ext cx="2057400" cy="731520"/>
          </a:xfrm>
          <a:prstGeom prst="rect">
            <a:avLst/>
          </a:prstGeom>
          <a:noFill/>
        </p:spPr>
        <p:txBody>
          <a:bodyPr wrap="square" lIns="0" tIns="0" rIns="0" bIns="0" anchor="t">
            <a:spAutoFit/>
          </a:bodyPr>
          <a:lstStyle/>
          <a:p>
            <a:pPr algn="l">
              <a:lnSpc>
                <a:spcPct val="105000"/>
              </a:lnSpc>
            </a:pPr>
            <a:r>
              <a:rPr sz="950" b="0" i="0">
                <a:solidFill>
                  <a:srgbClr val="1B1F3B"/>
                </a:solidFill>
                <a:latin typeface="Calibri"/>
              </a:rPr>
              <a:t>extractMetadataAsync() стартира @Async — статусът на скана се обновява в реално време</a:t>
            </a:r>
          </a:p>
        </p:txBody>
      </p:sp>
      <p:sp>
        <p:nvSpPr>
          <p:cNvPr id="9" name="Rounded Rectangle 8"/>
          <p:cNvSpPr/>
          <p:nvPr/>
        </p:nvSpPr>
        <p:spPr>
          <a:xfrm>
            <a:off x="342900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60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3722979" y="1985619"/>
            <a:ext cx="372160" cy="372160"/>
          </a:xfrm>
          <a:prstGeom prst="rect">
            <a:avLst/>
          </a:prstGeom>
        </p:spPr>
      </p:pic>
      <p:sp>
        <p:nvSpPr>
          <p:cNvPr id="12" name="TextBox 11"/>
          <p:cNvSpPr txBox="1"/>
          <p:nvPr/>
        </p:nvSpPr>
        <p:spPr>
          <a:xfrm>
            <a:off x="365760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2. Връзка и конфигурация</a:t>
            </a:r>
          </a:p>
        </p:txBody>
      </p:sp>
      <p:sp>
        <p:nvSpPr>
          <p:cNvPr id="13" name="TextBox 12"/>
          <p:cNvSpPr txBox="1"/>
          <p:nvPr/>
        </p:nvSpPr>
        <p:spPr>
          <a:xfrm>
            <a:off x="3657600" y="3017520"/>
            <a:ext cx="2057400" cy="731520"/>
          </a:xfrm>
          <a:prstGeom prst="rect">
            <a:avLst/>
          </a:prstGeom>
          <a:noFill/>
        </p:spPr>
        <p:txBody>
          <a:bodyPr wrap="square" lIns="0" tIns="0" rIns="0" bIns="0" anchor="t">
            <a:spAutoFit/>
          </a:bodyPr>
          <a:lstStyle/>
          <a:p>
            <a:pPr algn="l">
              <a:lnSpc>
                <a:spcPct val="105000"/>
              </a:lnSpc>
            </a:pPr>
            <a:r>
              <a:rPr sz="950" b="0" i="0">
                <a:solidFill>
                  <a:srgbClr val="1B1F3B"/>
                </a:solidFill>
                <a:latin typeface="Calibri"/>
              </a:rPr>
              <a:t>DatabaseConnectionManager отваря връзка; MetadataQueryLoader избира заявките за типа СУБД от metadata-queries/*.json</a:t>
            </a:r>
          </a:p>
        </p:txBody>
      </p:sp>
      <p:sp>
        <p:nvSpPr>
          <p:cNvPr id="14" name="Rounded Rectangle 13"/>
          <p:cNvSpPr/>
          <p:nvPr/>
        </p:nvSpPr>
        <p:spPr>
          <a:xfrm>
            <a:off x="621792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4652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5"/>
          <a:stretch>
            <a:fillRect/>
          </a:stretch>
        </p:blipFill>
        <p:spPr>
          <a:xfrm>
            <a:off x="6511899" y="1985619"/>
            <a:ext cx="372160" cy="372160"/>
          </a:xfrm>
          <a:prstGeom prst="rect">
            <a:avLst/>
          </a:prstGeom>
        </p:spPr>
      </p:pic>
      <p:sp>
        <p:nvSpPr>
          <p:cNvPr id="17" name="TextBox 16"/>
          <p:cNvSpPr txBox="1"/>
          <p:nvPr/>
        </p:nvSpPr>
        <p:spPr>
          <a:xfrm>
            <a:off x="644652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3. Извличане</a:t>
            </a:r>
          </a:p>
        </p:txBody>
      </p:sp>
      <p:sp>
        <p:nvSpPr>
          <p:cNvPr id="18" name="TextBox 17"/>
          <p:cNvSpPr txBox="1"/>
          <p:nvPr/>
        </p:nvSpPr>
        <p:spPr>
          <a:xfrm>
            <a:off x="6446520" y="3017520"/>
            <a:ext cx="2057400" cy="454292"/>
          </a:xfrm>
          <a:prstGeom prst="rect">
            <a:avLst/>
          </a:prstGeom>
          <a:noFill/>
        </p:spPr>
        <p:txBody>
          <a:bodyPr wrap="square" lIns="0" tIns="0" rIns="0" bIns="0" anchor="t">
            <a:spAutoFit/>
          </a:bodyPr>
          <a:lstStyle/>
          <a:p>
            <a:pPr algn="l">
              <a:lnSpc>
                <a:spcPct val="105000"/>
              </a:lnSpc>
            </a:pPr>
            <a:r>
              <a:rPr sz="950" b="0" i="0" dirty="0" err="1">
                <a:solidFill>
                  <a:srgbClr val="1B1F3B"/>
                </a:solidFill>
                <a:latin typeface="Calibri"/>
              </a:rPr>
              <a:t>extractTablesAndColumns</a:t>
            </a:r>
            <a:r>
              <a:rPr sz="950" b="0" i="0" dirty="0">
                <a:solidFill>
                  <a:srgbClr val="1B1F3B"/>
                </a:solidFill>
                <a:latin typeface="Calibri"/>
              </a:rPr>
              <a:t>() и </a:t>
            </a:r>
            <a:r>
              <a:rPr sz="950" b="0" i="0" dirty="0" err="1">
                <a:solidFill>
                  <a:srgbClr val="1B1F3B"/>
                </a:solidFill>
                <a:latin typeface="Calibri"/>
              </a:rPr>
              <a:t>extractRelations</a:t>
            </a:r>
            <a:r>
              <a:rPr sz="950" b="0" i="0" dirty="0">
                <a:solidFill>
                  <a:srgbClr val="1B1F3B"/>
                </a:solidFill>
                <a:latin typeface="Calibri"/>
              </a:rPr>
              <a:t>() </a:t>
            </a:r>
            <a:r>
              <a:rPr sz="950" b="0" i="0" dirty="0" err="1">
                <a:solidFill>
                  <a:srgbClr val="1B1F3B"/>
                </a:solidFill>
                <a:latin typeface="Calibri"/>
              </a:rPr>
              <a:t>четат</a:t>
            </a:r>
            <a:r>
              <a:rPr sz="950" b="0" i="0" dirty="0">
                <a:solidFill>
                  <a:srgbClr val="1B1F3B"/>
                </a:solidFill>
                <a:latin typeface="Calibri"/>
              </a:rPr>
              <a:t> </a:t>
            </a:r>
            <a:r>
              <a:rPr sz="950" b="0" i="0" dirty="0" err="1">
                <a:solidFill>
                  <a:srgbClr val="1B1F3B"/>
                </a:solidFill>
                <a:latin typeface="Calibri"/>
              </a:rPr>
              <a:t>таблици</a:t>
            </a:r>
            <a:r>
              <a:rPr sz="950" b="0" i="0" dirty="0">
                <a:solidFill>
                  <a:srgbClr val="1B1F3B"/>
                </a:solidFill>
                <a:latin typeface="Calibri"/>
              </a:rPr>
              <a:t>, </a:t>
            </a:r>
            <a:r>
              <a:rPr sz="950" b="0" i="0" dirty="0" err="1">
                <a:solidFill>
                  <a:srgbClr val="1B1F3B"/>
                </a:solidFill>
                <a:latin typeface="Calibri"/>
              </a:rPr>
              <a:t>колони</a:t>
            </a:r>
            <a:r>
              <a:rPr sz="950" b="0" i="0" dirty="0">
                <a:solidFill>
                  <a:srgbClr val="1B1F3B"/>
                </a:solidFill>
                <a:latin typeface="Calibri"/>
              </a:rPr>
              <a:t>, </a:t>
            </a:r>
            <a:r>
              <a:rPr sz="950" b="0" i="0" dirty="0" err="1">
                <a:solidFill>
                  <a:srgbClr val="1B1F3B"/>
                </a:solidFill>
                <a:latin typeface="Calibri"/>
              </a:rPr>
              <a:t>типове</a:t>
            </a:r>
            <a:r>
              <a:rPr sz="950" b="0" i="0" dirty="0">
                <a:solidFill>
                  <a:srgbClr val="1B1F3B"/>
                </a:solidFill>
                <a:latin typeface="Calibri"/>
              </a:rPr>
              <a:t> и </a:t>
            </a:r>
            <a:r>
              <a:rPr lang="bg-BG" sz="950" b="0" i="0" dirty="0">
                <a:solidFill>
                  <a:srgbClr val="1B1F3B"/>
                </a:solidFill>
                <a:latin typeface="Calibri"/>
              </a:rPr>
              <a:t>релации</a:t>
            </a:r>
            <a:endParaRPr sz="950" b="0" i="0" dirty="0">
              <a:solidFill>
                <a:srgbClr val="1B1F3B"/>
              </a:solidFill>
              <a:latin typeface="Calibri"/>
            </a:endParaRPr>
          </a:p>
        </p:txBody>
      </p:sp>
      <p:sp>
        <p:nvSpPr>
          <p:cNvPr id="19" name="Rounded Rectangle 18"/>
          <p:cNvSpPr/>
          <p:nvPr/>
        </p:nvSpPr>
        <p:spPr>
          <a:xfrm>
            <a:off x="9006839"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35439"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mage.png"/>
          <p:cNvPicPr>
            <a:picLocks noChangeAspect="1"/>
          </p:cNvPicPr>
          <p:nvPr/>
        </p:nvPicPr>
        <p:blipFill>
          <a:blip r:embed="rId6"/>
          <a:stretch>
            <a:fillRect/>
          </a:stretch>
        </p:blipFill>
        <p:spPr>
          <a:xfrm>
            <a:off x="9300819" y="1985619"/>
            <a:ext cx="372160" cy="372160"/>
          </a:xfrm>
          <a:prstGeom prst="rect">
            <a:avLst/>
          </a:prstGeom>
        </p:spPr>
      </p:pic>
      <p:sp>
        <p:nvSpPr>
          <p:cNvPr id="22" name="TextBox 21"/>
          <p:cNvSpPr txBox="1"/>
          <p:nvPr/>
        </p:nvSpPr>
        <p:spPr>
          <a:xfrm>
            <a:off x="9235439"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4. Завършване</a:t>
            </a:r>
          </a:p>
        </p:txBody>
      </p:sp>
      <p:sp>
        <p:nvSpPr>
          <p:cNvPr id="23" name="TextBox 22"/>
          <p:cNvSpPr txBox="1"/>
          <p:nvPr/>
        </p:nvSpPr>
        <p:spPr>
          <a:xfrm>
            <a:off x="9235439" y="3017520"/>
            <a:ext cx="2057400" cy="731520"/>
          </a:xfrm>
          <a:prstGeom prst="rect">
            <a:avLst/>
          </a:prstGeom>
          <a:noFill/>
        </p:spPr>
        <p:txBody>
          <a:bodyPr wrap="square" lIns="0" tIns="0" rIns="0" bIns="0" anchor="t">
            <a:spAutoFit/>
          </a:bodyPr>
          <a:lstStyle/>
          <a:p>
            <a:pPr algn="l">
              <a:lnSpc>
                <a:spcPct val="105000"/>
              </a:lnSpc>
            </a:pPr>
            <a:r>
              <a:rPr sz="950" b="0" i="0">
                <a:solidFill>
                  <a:srgbClr val="1B1F3B"/>
                </a:solidFill>
                <a:latin typeface="Calibri"/>
              </a:rPr>
              <a:t>Статус COMPLETED или FAILED при грешка; връзката винаги се затваря безопасно (finally)</a:t>
            </a:r>
          </a:p>
        </p:txBody>
      </p:sp>
      <p:sp>
        <p:nvSpPr>
          <p:cNvPr id="24" name="Rounded Rectangle 23"/>
          <p:cNvSpPr/>
          <p:nvPr/>
        </p:nvSpPr>
        <p:spPr>
          <a:xfrm>
            <a:off x="640079" y="4299051"/>
            <a:ext cx="10881360" cy="1828801"/>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68679" y="4555084"/>
            <a:ext cx="502920" cy="50292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png"/>
          <p:cNvPicPr>
            <a:picLocks noChangeAspect="1"/>
          </p:cNvPicPr>
          <p:nvPr/>
        </p:nvPicPr>
        <p:blipFill>
          <a:blip r:embed="rId7"/>
          <a:stretch>
            <a:fillRect/>
          </a:stretch>
        </p:blipFill>
        <p:spPr>
          <a:xfrm>
            <a:off x="934058" y="4620463"/>
            <a:ext cx="372160" cy="372160"/>
          </a:xfrm>
          <a:prstGeom prst="rect">
            <a:avLst/>
          </a:prstGeom>
        </p:spPr>
      </p:pic>
      <p:sp>
        <p:nvSpPr>
          <p:cNvPr id="27" name="TextBox 26"/>
          <p:cNvSpPr txBox="1"/>
          <p:nvPr/>
        </p:nvSpPr>
        <p:spPr>
          <a:xfrm>
            <a:off x="1508759" y="4573371"/>
            <a:ext cx="8686800" cy="457200"/>
          </a:xfrm>
          <a:prstGeom prst="rect">
            <a:avLst/>
          </a:prstGeom>
          <a:noFill/>
        </p:spPr>
        <p:txBody>
          <a:bodyPr wrap="square" lIns="0" tIns="0" rIns="0" bIns="0" anchor="ctr">
            <a:spAutoFit/>
          </a:bodyPr>
          <a:lstStyle/>
          <a:p>
            <a:pPr algn="l"/>
            <a:r>
              <a:rPr sz="1600" b="1" i="0">
                <a:solidFill>
                  <a:srgbClr val="FFFFFF"/>
                </a:solidFill>
                <a:latin typeface="Calibri"/>
              </a:rPr>
              <a:t>Какво се извлича</a:t>
            </a:r>
          </a:p>
        </p:txBody>
      </p:sp>
      <p:sp>
        <p:nvSpPr>
          <p:cNvPr id="28" name="Rounded Rectangle 27"/>
          <p:cNvSpPr/>
          <p:nvPr/>
        </p:nvSpPr>
        <p:spPr>
          <a:xfrm>
            <a:off x="868679" y="5213452"/>
            <a:ext cx="2377440" cy="502920"/>
          </a:xfrm>
          <a:prstGeom prst="roundRect">
            <a:avLst>
              <a:gd name="adj" fmla="val 1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table_white.png"/>
          <p:cNvPicPr>
            <a:picLocks noChangeAspect="1"/>
          </p:cNvPicPr>
          <p:nvPr/>
        </p:nvPicPr>
        <p:blipFill>
          <a:blip r:embed="rId8"/>
          <a:stretch>
            <a:fillRect/>
          </a:stretch>
        </p:blipFill>
        <p:spPr>
          <a:xfrm>
            <a:off x="978406" y="5346039"/>
            <a:ext cx="237744" cy="237744"/>
          </a:xfrm>
          <a:prstGeom prst="rect">
            <a:avLst/>
          </a:prstGeom>
        </p:spPr>
      </p:pic>
      <p:sp>
        <p:nvSpPr>
          <p:cNvPr id="30" name="TextBox 29"/>
          <p:cNvSpPr txBox="1"/>
          <p:nvPr/>
        </p:nvSpPr>
        <p:spPr>
          <a:xfrm>
            <a:off x="1289303" y="5213452"/>
            <a:ext cx="1874519" cy="502920"/>
          </a:xfrm>
          <a:prstGeom prst="rect">
            <a:avLst/>
          </a:prstGeom>
          <a:noFill/>
        </p:spPr>
        <p:txBody>
          <a:bodyPr wrap="square" lIns="0" tIns="0" rIns="0" bIns="0" anchor="ctr">
            <a:spAutoFit/>
          </a:bodyPr>
          <a:lstStyle/>
          <a:p>
            <a:pPr algn="l"/>
            <a:r>
              <a:rPr sz="1100" b="1" i="0">
                <a:solidFill>
                  <a:srgbClr val="FFFFFF"/>
                </a:solidFill>
                <a:latin typeface="Calibri"/>
              </a:rPr>
              <a:t>Таблици и колони</a:t>
            </a:r>
          </a:p>
        </p:txBody>
      </p:sp>
      <p:sp>
        <p:nvSpPr>
          <p:cNvPr id="31" name="Rounded Rectangle 30"/>
          <p:cNvSpPr/>
          <p:nvPr/>
        </p:nvSpPr>
        <p:spPr>
          <a:xfrm>
            <a:off x="3428999" y="5213452"/>
            <a:ext cx="2377440" cy="502920"/>
          </a:xfrm>
          <a:prstGeom prst="roundRect">
            <a:avLst>
              <a:gd name="adj" fmla="val 1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ruler_white.png"/>
          <p:cNvPicPr>
            <a:picLocks noChangeAspect="1"/>
          </p:cNvPicPr>
          <p:nvPr/>
        </p:nvPicPr>
        <p:blipFill>
          <a:blip r:embed="rId9"/>
          <a:stretch>
            <a:fillRect/>
          </a:stretch>
        </p:blipFill>
        <p:spPr>
          <a:xfrm>
            <a:off x="3538727" y="5346039"/>
            <a:ext cx="237744" cy="237744"/>
          </a:xfrm>
          <a:prstGeom prst="rect">
            <a:avLst/>
          </a:prstGeom>
        </p:spPr>
      </p:pic>
      <p:sp>
        <p:nvSpPr>
          <p:cNvPr id="33" name="TextBox 32"/>
          <p:cNvSpPr txBox="1"/>
          <p:nvPr/>
        </p:nvSpPr>
        <p:spPr>
          <a:xfrm>
            <a:off x="3849623" y="5213452"/>
            <a:ext cx="1874519" cy="502920"/>
          </a:xfrm>
          <a:prstGeom prst="rect">
            <a:avLst/>
          </a:prstGeom>
          <a:noFill/>
        </p:spPr>
        <p:txBody>
          <a:bodyPr wrap="square" lIns="0" tIns="0" rIns="0" bIns="0" anchor="ctr">
            <a:spAutoFit/>
          </a:bodyPr>
          <a:lstStyle/>
          <a:p>
            <a:pPr algn="l"/>
            <a:r>
              <a:rPr sz="1100" b="1" i="0">
                <a:solidFill>
                  <a:srgbClr val="FFFFFF"/>
                </a:solidFill>
                <a:latin typeface="Calibri"/>
              </a:rPr>
              <a:t>Типове и NULL</a:t>
            </a:r>
          </a:p>
        </p:txBody>
      </p:sp>
      <p:sp>
        <p:nvSpPr>
          <p:cNvPr id="34" name="Rounded Rectangle 33"/>
          <p:cNvSpPr/>
          <p:nvPr/>
        </p:nvSpPr>
        <p:spPr>
          <a:xfrm>
            <a:off x="5989319" y="5213452"/>
            <a:ext cx="2377440" cy="502920"/>
          </a:xfrm>
          <a:prstGeom prst="roundRect">
            <a:avLst>
              <a:gd name="adj" fmla="val 1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image.png"/>
          <p:cNvPicPr>
            <a:picLocks noChangeAspect="1"/>
          </p:cNvPicPr>
          <p:nvPr/>
        </p:nvPicPr>
        <p:blipFill>
          <a:blip r:embed="rId10"/>
          <a:stretch>
            <a:fillRect/>
          </a:stretch>
        </p:blipFill>
        <p:spPr>
          <a:xfrm>
            <a:off x="6099047" y="5346039"/>
            <a:ext cx="237744" cy="237744"/>
          </a:xfrm>
          <a:prstGeom prst="rect">
            <a:avLst/>
          </a:prstGeom>
        </p:spPr>
      </p:pic>
      <p:sp>
        <p:nvSpPr>
          <p:cNvPr id="36" name="TextBox 35"/>
          <p:cNvSpPr txBox="1"/>
          <p:nvPr/>
        </p:nvSpPr>
        <p:spPr>
          <a:xfrm>
            <a:off x="6409943" y="5213452"/>
            <a:ext cx="1874519" cy="502920"/>
          </a:xfrm>
          <a:prstGeom prst="rect">
            <a:avLst/>
          </a:prstGeom>
          <a:noFill/>
        </p:spPr>
        <p:txBody>
          <a:bodyPr wrap="square" lIns="0" tIns="0" rIns="0" bIns="0" anchor="ctr">
            <a:spAutoFit/>
          </a:bodyPr>
          <a:lstStyle/>
          <a:p>
            <a:pPr algn="l"/>
            <a:r>
              <a:rPr sz="1100" b="1" i="0">
                <a:solidFill>
                  <a:srgbClr val="FFFFFF"/>
                </a:solidFill>
                <a:latin typeface="Calibri"/>
              </a:rPr>
              <a:t>Релации (FK)</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640080"/>
          </a:xfrm>
          <a:prstGeom prst="rect">
            <a:avLst/>
          </a:prstGeom>
          <a:noFill/>
        </p:spPr>
        <p:txBody>
          <a:bodyPr wrap="square" lIns="0" tIns="0" rIns="0" bIns="0" anchor="t">
            <a:spAutoFit/>
          </a:bodyPr>
          <a:lstStyle/>
          <a:p>
            <a:pPr algn="l"/>
            <a:r>
              <a:rPr sz="3000" b="1" i="0">
                <a:solidFill>
                  <a:srgbClr val="1B1F3B"/>
                </a:solidFill>
                <a:latin typeface="Calibri"/>
              </a:rPr>
              <a:t>Конфигурация вместо код</a:t>
            </a:r>
          </a:p>
        </p:txBody>
      </p:sp>
      <p:sp>
        <p:nvSpPr>
          <p:cNvPr id="3" name="TextBox 2"/>
          <p:cNvSpPr txBox="1"/>
          <p:nvPr/>
        </p:nvSpPr>
        <p:spPr>
          <a:xfrm>
            <a:off x="640080" y="1051560"/>
            <a:ext cx="10881360" cy="365760"/>
          </a:xfrm>
          <a:prstGeom prst="rect">
            <a:avLst/>
          </a:prstGeom>
          <a:noFill/>
        </p:spPr>
        <p:txBody>
          <a:bodyPr wrap="square" lIns="0" tIns="0" rIns="0" bIns="0" anchor="t">
            <a:spAutoFit/>
          </a:bodyPr>
          <a:lstStyle/>
          <a:p>
            <a:pPr algn="l"/>
            <a:r>
              <a:rPr sz="1400" b="0" i="0">
                <a:solidFill>
                  <a:srgbClr val="5B6485"/>
                </a:solidFill>
                <a:latin typeface="Calibri"/>
              </a:rPr>
              <a:t>Четири JSON конфигурации задвижват цялата система — споделени между домейните</a:t>
            </a:r>
          </a:p>
        </p:txBody>
      </p:sp>
      <p:sp>
        <p:nvSpPr>
          <p:cNvPr id="4" name="Rounded Rectangle 3"/>
          <p:cNvSpPr/>
          <p:nvPr/>
        </p:nvSpPr>
        <p:spPr>
          <a:xfrm>
            <a:off x="640080" y="1691640"/>
            <a:ext cx="2514600" cy="288036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1247" y="1920240"/>
            <a:ext cx="457200" cy="457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900683" y="1979676"/>
            <a:ext cx="338328" cy="338328"/>
          </a:xfrm>
          <a:prstGeom prst="rect">
            <a:avLst/>
          </a:prstGeom>
        </p:spPr>
      </p:pic>
      <p:sp>
        <p:nvSpPr>
          <p:cNvPr id="7" name="Rounded Rectangle 6"/>
          <p:cNvSpPr/>
          <p:nvPr/>
        </p:nvSpPr>
        <p:spPr>
          <a:xfrm>
            <a:off x="1600200" y="1984248"/>
            <a:ext cx="1371600" cy="292608"/>
          </a:xfrm>
          <a:prstGeom prst="roundRect">
            <a:avLst>
              <a:gd name="adj" fmla="val 50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984248"/>
            <a:ext cx="1371600" cy="292608"/>
          </a:xfrm>
          <a:prstGeom prst="rect">
            <a:avLst/>
          </a:prstGeom>
          <a:noFill/>
        </p:spPr>
        <p:txBody>
          <a:bodyPr wrap="square" lIns="0" tIns="0" rIns="0" bIns="0" anchor="ctr">
            <a:spAutoFit/>
          </a:bodyPr>
          <a:lstStyle/>
          <a:p>
            <a:pPr algn="ctr"/>
            <a:r>
              <a:rPr sz="850" b="1" i="0">
                <a:solidFill>
                  <a:srgbClr val="1E2761"/>
                </a:solidFill>
                <a:latin typeface="Calibri"/>
              </a:rPr>
              <a:t>scan</a:t>
            </a:r>
          </a:p>
        </p:txBody>
      </p:sp>
      <p:sp>
        <p:nvSpPr>
          <p:cNvPr id="9" name="TextBox 8"/>
          <p:cNvSpPr txBox="1"/>
          <p:nvPr/>
        </p:nvSpPr>
        <p:spPr>
          <a:xfrm>
            <a:off x="841247" y="2560320"/>
            <a:ext cx="2112264" cy="502920"/>
          </a:xfrm>
          <a:prstGeom prst="rect">
            <a:avLst/>
          </a:prstGeom>
          <a:noFill/>
        </p:spPr>
        <p:txBody>
          <a:bodyPr wrap="square" lIns="0" tIns="0" rIns="0" bIns="0" anchor="t">
            <a:spAutoFit/>
          </a:bodyPr>
          <a:lstStyle/>
          <a:p>
            <a:pPr algn="l">
              <a:lnSpc>
                <a:spcPct val="100000"/>
              </a:lnSpc>
            </a:pPr>
            <a:r>
              <a:rPr sz="1150" b="1" i="0">
                <a:solidFill>
                  <a:srgbClr val="1E2761"/>
                </a:solidFill>
                <a:latin typeface="Courier New"/>
              </a:rPr>
              <a:t>metadata-queries/*.json</a:t>
            </a:r>
          </a:p>
        </p:txBody>
      </p:sp>
      <p:sp>
        <p:nvSpPr>
          <p:cNvPr id="10" name="TextBox 9"/>
          <p:cNvSpPr txBox="1"/>
          <p:nvPr/>
        </p:nvSpPr>
        <p:spPr>
          <a:xfrm>
            <a:off x="841247" y="3108960"/>
            <a:ext cx="2112264" cy="499367"/>
          </a:xfrm>
          <a:prstGeom prst="rect">
            <a:avLst/>
          </a:prstGeom>
          <a:noFill/>
        </p:spPr>
        <p:txBody>
          <a:bodyPr wrap="square" lIns="0" tIns="0" rIns="0" bIns="0" anchor="t">
            <a:spAutoFit/>
          </a:bodyPr>
          <a:lstStyle/>
          <a:p>
            <a:pPr algn="l">
              <a:lnSpc>
                <a:spcPct val="110000"/>
              </a:lnSpc>
            </a:pPr>
            <a:r>
              <a:rPr sz="1000" b="0" i="0" dirty="0" err="1">
                <a:solidFill>
                  <a:srgbClr val="1B1F3B"/>
                </a:solidFill>
                <a:latin typeface="Calibri"/>
              </a:rPr>
              <a:t>MetadataQueryLoader</a:t>
            </a:r>
            <a:r>
              <a:rPr sz="1000" b="0" i="0" dirty="0">
                <a:solidFill>
                  <a:srgbClr val="1B1F3B"/>
                </a:solidFill>
                <a:latin typeface="Calibri"/>
              </a:rPr>
              <a:t> </a:t>
            </a:r>
            <a:r>
              <a:rPr sz="1000" b="0" i="0" dirty="0" err="1">
                <a:solidFill>
                  <a:srgbClr val="1B1F3B"/>
                </a:solidFill>
                <a:latin typeface="Calibri"/>
              </a:rPr>
              <a:t>зарежда</a:t>
            </a:r>
            <a:r>
              <a:rPr sz="1000" b="0" i="0" dirty="0">
                <a:solidFill>
                  <a:srgbClr val="1B1F3B"/>
                </a:solidFill>
                <a:latin typeface="Calibri"/>
              </a:rPr>
              <a:t> SQL </a:t>
            </a:r>
            <a:r>
              <a:rPr sz="1000" b="0" i="0" dirty="0" err="1">
                <a:solidFill>
                  <a:srgbClr val="1B1F3B"/>
                </a:solidFill>
                <a:latin typeface="Calibri"/>
              </a:rPr>
              <a:t>заявки</a:t>
            </a:r>
            <a:r>
              <a:rPr lang="bg-BG" sz="1000" b="0" i="0" dirty="0">
                <a:solidFill>
                  <a:srgbClr val="1B1F3B"/>
                </a:solidFill>
                <a:latin typeface="Calibri"/>
              </a:rPr>
              <a:t>те</a:t>
            </a:r>
            <a:r>
              <a:rPr sz="1000" b="0" i="0" dirty="0">
                <a:solidFill>
                  <a:srgbClr val="1B1F3B"/>
                </a:solidFill>
                <a:latin typeface="Calibri"/>
              </a:rPr>
              <a:t> за </a:t>
            </a:r>
            <a:r>
              <a:rPr lang="bg-BG" sz="1000" b="0" i="0" dirty="0">
                <a:solidFill>
                  <a:srgbClr val="1B1F3B"/>
                </a:solidFill>
                <a:latin typeface="Calibri"/>
              </a:rPr>
              <a:t>сканиране</a:t>
            </a:r>
            <a:r>
              <a:rPr sz="1000" b="0" i="0" dirty="0">
                <a:solidFill>
                  <a:srgbClr val="1B1F3B"/>
                </a:solidFill>
                <a:latin typeface="Calibri"/>
              </a:rPr>
              <a:t>, </a:t>
            </a:r>
            <a:r>
              <a:rPr sz="1000" b="0" i="0" dirty="0" err="1">
                <a:solidFill>
                  <a:srgbClr val="1B1F3B"/>
                </a:solidFill>
                <a:latin typeface="Calibri"/>
              </a:rPr>
              <a:t>специфични</a:t>
            </a:r>
            <a:r>
              <a:rPr sz="1000" b="0" i="0" dirty="0">
                <a:solidFill>
                  <a:srgbClr val="1B1F3B"/>
                </a:solidFill>
                <a:latin typeface="Calibri"/>
              </a:rPr>
              <a:t> за </a:t>
            </a:r>
            <a:r>
              <a:rPr sz="1000" b="0" i="0" dirty="0" err="1">
                <a:solidFill>
                  <a:srgbClr val="1B1F3B"/>
                </a:solidFill>
                <a:latin typeface="Calibri"/>
              </a:rPr>
              <a:t>всяка</a:t>
            </a:r>
            <a:r>
              <a:rPr sz="1000" b="0" i="0" dirty="0">
                <a:solidFill>
                  <a:srgbClr val="1B1F3B"/>
                </a:solidFill>
                <a:latin typeface="Calibri"/>
              </a:rPr>
              <a:t> </a:t>
            </a:r>
            <a:r>
              <a:rPr sz="1000" b="0" i="0" dirty="0" err="1">
                <a:solidFill>
                  <a:srgbClr val="1B1F3B"/>
                </a:solidFill>
                <a:latin typeface="Calibri"/>
              </a:rPr>
              <a:t>СУБД</a:t>
            </a:r>
            <a:r>
              <a:rPr sz="1000" b="0" i="0" dirty="0">
                <a:solidFill>
                  <a:srgbClr val="1B1F3B"/>
                </a:solidFill>
                <a:latin typeface="Calibri"/>
              </a:rPr>
              <a:t>.</a:t>
            </a:r>
          </a:p>
        </p:txBody>
      </p:sp>
      <p:sp>
        <p:nvSpPr>
          <p:cNvPr id="11" name="Rounded Rectangle 10"/>
          <p:cNvSpPr/>
          <p:nvPr/>
        </p:nvSpPr>
        <p:spPr>
          <a:xfrm>
            <a:off x="3429000" y="1691640"/>
            <a:ext cx="2514600" cy="288036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30168" y="1920240"/>
            <a:ext cx="457200" cy="457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3"/>
          <a:stretch>
            <a:fillRect/>
          </a:stretch>
        </p:blipFill>
        <p:spPr>
          <a:xfrm>
            <a:off x="3689604" y="1979676"/>
            <a:ext cx="338328" cy="338328"/>
          </a:xfrm>
          <a:prstGeom prst="rect">
            <a:avLst/>
          </a:prstGeom>
        </p:spPr>
      </p:pic>
      <p:sp>
        <p:nvSpPr>
          <p:cNvPr id="14" name="Rounded Rectangle 13"/>
          <p:cNvSpPr/>
          <p:nvPr/>
        </p:nvSpPr>
        <p:spPr>
          <a:xfrm>
            <a:off x="4389120" y="2011680"/>
            <a:ext cx="1371599" cy="265176"/>
          </a:xfrm>
          <a:prstGeom prst="roundRect">
            <a:avLst>
              <a:gd name="adj" fmla="val 50000"/>
            </a:avLst>
          </a:prstGeom>
          <a:solidFill>
            <a:srgbClr val="D7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61687" y="2078865"/>
            <a:ext cx="1399032" cy="130805"/>
          </a:xfrm>
          <a:prstGeom prst="rect">
            <a:avLst/>
          </a:prstGeom>
          <a:noFill/>
        </p:spPr>
        <p:txBody>
          <a:bodyPr wrap="square" lIns="0" tIns="0" rIns="0" bIns="0" anchor="ctr">
            <a:spAutoFit/>
          </a:bodyPr>
          <a:lstStyle/>
          <a:p>
            <a:pPr algn="ctr"/>
            <a:r>
              <a:rPr sz="850" b="1" i="0" dirty="0">
                <a:solidFill>
                  <a:srgbClr val="1E2761"/>
                </a:solidFill>
                <a:latin typeface="Calibri"/>
              </a:rPr>
              <a:t>transformation</a:t>
            </a:r>
          </a:p>
        </p:txBody>
      </p:sp>
      <p:sp>
        <p:nvSpPr>
          <p:cNvPr id="16" name="TextBox 15"/>
          <p:cNvSpPr txBox="1"/>
          <p:nvPr/>
        </p:nvSpPr>
        <p:spPr>
          <a:xfrm>
            <a:off x="3630168" y="2560320"/>
            <a:ext cx="2112264" cy="502920"/>
          </a:xfrm>
          <a:prstGeom prst="rect">
            <a:avLst/>
          </a:prstGeom>
          <a:noFill/>
        </p:spPr>
        <p:txBody>
          <a:bodyPr wrap="square" lIns="0" tIns="0" rIns="0" bIns="0" anchor="t">
            <a:spAutoFit/>
          </a:bodyPr>
          <a:lstStyle/>
          <a:p>
            <a:pPr algn="l">
              <a:lnSpc>
                <a:spcPct val="100000"/>
              </a:lnSpc>
            </a:pPr>
            <a:r>
              <a:rPr sz="1150" b="1" i="0">
                <a:solidFill>
                  <a:srgbClr val="1E2761"/>
                </a:solidFill>
                <a:latin typeface="Courier New"/>
              </a:rPr>
              <a:t>type-mappings/*.json</a:t>
            </a:r>
          </a:p>
        </p:txBody>
      </p:sp>
      <p:sp>
        <p:nvSpPr>
          <p:cNvPr id="17" name="TextBox 16"/>
          <p:cNvSpPr txBox="1"/>
          <p:nvPr/>
        </p:nvSpPr>
        <p:spPr>
          <a:xfrm>
            <a:off x="3630168" y="3108960"/>
            <a:ext cx="2112264" cy="1371600"/>
          </a:xfrm>
          <a:prstGeom prst="rect">
            <a:avLst/>
          </a:prstGeom>
          <a:noFill/>
        </p:spPr>
        <p:txBody>
          <a:bodyPr wrap="square" lIns="0" tIns="0" rIns="0" bIns="0" anchor="t">
            <a:spAutoFit/>
          </a:bodyPr>
          <a:lstStyle/>
          <a:p>
            <a:pPr algn="l">
              <a:lnSpc>
                <a:spcPct val="110000"/>
              </a:lnSpc>
            </a:pPr>
            <a:r>
              <a:rPr sz="1000" b="0" i="0">
                <a:solidFill>
                  <a:srgbClr val="1B1F3B"/>
                </a:solidFill>
                <a:latin typeface="Calibri"/>
              </a:rPr>
              <a:t>TypeResolutionService съпоставя изходния и целевия тип; всяко правило носи dataLossRisk флаг.</a:t>
            </a:r>
          </a:p>
        </p:txBody>
      </p:sp>
      <p:sp>
        <p:nvSpPr>
          <p:cNvPr id="18" name="Rounded Rectangle 17"/>
          <p:cNvSpPr/>
          <p:nvPr/>
        </p:nvSpPr>
        <p:spPr>
          <a:xfrm>
            <a:off x="6217920" y="1691640"/>
            <a:ext cx="2514600" cy="288036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19088" y="1920240"/>
            <a:ext cx="457200" cy="457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4"/>
          <a:stretch>
            <a:fillRect/>
          </a:stretch>
        </p:blipFill>
        <p:spPr>
          <a:xfrm>
            <a:off x="6478524" y="1979676"/>
            <a:ext cx="338328" cy="338328"/>
          </a:xfrm>
          <a:prstGeom prst="rect">
            <a:avLst/>
          </a:prstGeom>
        </p:spPr>
      </p:pic>
      <p:sp>
        <p:nvSpPr>
          <p:cNvPr id="21" name="Rounded Rectangle 20"/>
          <p:cNvSpPr/>
          <p:nvPr/>
        </p:nvSpPr>
        <p:spPr>
          <a:xfrm>
            <a:off x="7178040" y="1984248"/>
            <a:ext cx="1371600" cy="292608"/>
          </a:xfrm>
          <a:prstGeom prst="roundRect">
            <a:avLst>
              <a:gd name="adj" fmla="val 50000"/>
            </a:avLst>
          </a:prstGeom>
          <a:solidFill>
            <a:srgbClr val="D7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78040" y="2072007"/>
            <a:ext cx="1371599" cy="130805"/>
          </a:xfrm>
          <a:prstGeom prst="rect">
            <a:avLst/>
          </a:prstGeom>
          <a:noFill/>
        </p:spPr>
        <p:txBody>
          <a:bodyPr wrap="square" lIns="0" tIns="0" rIns="0" bIns="0" anchor="ctr">
            <a:spAutoFit/>
          </a:bodyPr>
          <a:lstStyle/>
          <a:p>
            <a:pPr algn="ctr"/>
            <a:r>
              <a:rPr sz="850" b="1" i="0" dirty="0">
                <a:solidFill>
                  <a:srgbClr val="1E2761"/>
                </a:solidFill>
                <a:latin typeface="Calibri"/>
              </a:rPr>
              <a:t>transformation</a:t>
            </a:r>
          </a:p>
        </p:txBody>
      </p:sp>
      <p:sp>
        <p:nvSpPr>
          <p:cNvPr id="23" name="TextBox 22"/>
          <p:cNvSpPr txBox="1"/>
          <p:nvPr/>
        </p:nvSpPr>
        <p:spPr>
          <a:xfrm>
            <a:off x="6419088" y="2560320"/>
            <a:ext cx="2112264" cy="502920"/>
          </a:xfrm>
          <a:prstGeom prst="rect">
            <a:avLst/>
          </a:prstGeom>
          <a:noFill/>
        </p:spPr>
        <p:txBody>
          <a:bodyPr wrap="square" lIns="0" tIns="0" rIns="0" bIns="0" anchor="t">
            <a:spAutoFit/>
          </a:bodyPr>
          <a:lstStyle/>
          <a:p>
            <a:pPr algn="l">
              <a:lnSpc>
                <a:spcPct val="100000"/>
              </a:lnSpc>
            </a:pPr>
            <a:r>
              <a:rPr sz="1150" b="1" i="0">
                <a:solidFill>
                  <a:srgbClr val="1E2761"/>
                </a:solidFill>
                <a:latin typeface="Courier New"/>
              </a:rPr>
              <a:t>reserved-keywords.json</a:t>
            </a:r>
          </a:p>
        </p:txBody>
      </p:sp>
      <p:sp>
        <p:nvSpPr>
          <p:cNvPr id="24" name="TextBox 23"/>
          <p:cNvSpPr txBox="1"/>
          <p:nvPr/>
        </p:nvSpPr>
        <p:spPr>
          <a:xfrm>
            <a:off x="6419088" y="3108960"/>
            <a:ext cx="2112264" cy="499367"/>
          </a:xfrm>
          <a:prstGeom prst="rect">
            <a:avLst/>
          </a:prstGeom>
          <a:noFill/>
        </p:spPr>
        <p:txBody>
          <a:bodyPr wrap="square" lIns="0" tIns="0" rIns="0" bIns="0" anchor="t">
            <a:spAutoFit/>
          </a:bodyPr>
          <a:lstStyle/>
          <a:p>
            <a:pPr algn="l">
              <a:lnSpc>
                <a:spcPct val="110000"/>
              </a:lnSpc>
            </a:pPr>
            <a:r>
              <a:rPr sz="1000" b="0" i="0" dirty="0" err="1">
                <a:solidFill>
                  <a:srgbClr val="1B1F3B"/>
                </a:solidFill>
                <a:latin typeface="Calibri"/>
              </a:rPr>
              <a:t>SqlIdentifierValidator</a:t>
            </a:r>
            <a:r>
              <a:rPr sz="1000" b="0" i="0" dirty="0">
                <a:solidFill>
                  <a:srgbClr val="1B1F3B"/>
                </a:solidFill>
                <a:latin typeface="Calibri"/>
              </a:rPr>
              <a:t> </a:t>
            </a:r>
            <a:r>
              <a:rPr sz="1000" b="0" i="0" dirty="0" err="1">
                <a:solidFill>
                  <a:srgbClr val="1B1F3B"/>
                </a:solidFill>
                <a:latin typeface="Calibri"/>
              </a:rPr>
              <a:t>проверява</a:t>
            </a:r>
            <a:r>
              <a:rPr sz="1000" b="0" i="0" dirty="0">
                <a:solidFill>
                  <a:srgbClr val="1B1F3B"/>
                </a:solidFill>
                <a:latin typeface="Calibri"/>
              </a:rPr>
              <a:t> </a:t>
            </a:r>
            <a:r>
              <a:rPr sz="1000" b="0" i="0" dirty="0" err="1">
                <a:solidFill>
                  <a:srgbClr val="1B1F3B"/>
                </a:solidFill>
                <a:latin typeface="Calibri"/>
              </a:rPr>
              <a:t>имена</a:t>
            </a:r>
            <a:r>
              <a:rPr sz="1000" b="0" i="0" dirty="0">
                <a:solidFill>
                  <a:srgbClr val="1B1F3B"/>
                </a:solidFill>
                <a:latin typeface="Calibri"/>
              </a:rPr>
              <a:t> </a:t>
            </a:r>
            <a:r>
              <a:rPr sz="1000" b="0" i="0" dirty="0" err="1">
                <a:solidFill>
                  <a:srgbClr val="1B1F3B"/>
                </a:solidFill>
                <a:latin typeface="Calibri"/>
              </a:rPr>
              <a:t>на</a:t>
            </a:r>
            <a:r>
              <a:rPr sz="1000" b="0" i="0" dirty="0">
                <a:solidFill>
                  <a:srgbClr val="1B1F3B"/>
                </a:solidFill>
                <a:latin typeface="Calibri"/>
              </a:rPr>
              <a:t> </a:t>
            </a:r>
            <a:r>
              <a:rPr sz="1000" b="0" i="0" dirty="0" err="1">
                <a:solidFill>
                  <a:srgbClr val="1B1F3B"/>
                </a:solidFill>
                <a:latin typeface="Calibri"/>
              </a:rPr>
              <a:t>таблици</a:t>
            </a:r>
            <a:r>
              <a:rPr sz="1000" b="0" i="0" dirty="0">
                <a:solidFill>
                  <a:srgbClr val="1B1F3B"/>
                </a:solidFill>
                <a:latin typeface="Calibri"/>
              </a:rPr>
              <a:t> и </a:t>
            </a:r>
            <a:r>
              <a:rPr sz="1000" b="0" i="0" dirty="0" err="1">
                <a:solidFill>
                  <a:srgbClr val="1B1F3B"/>
                </a:solidFill>
                <a:latin typeface="Calibri"/>
              </a:rPr>
              <a:t>колони</a:t>
            </a:r>
            <a:r>
              <a:rPr sz="1000" b="0" i="0" dirty="0">
                <a:solidFill>
                  <a:srgbClr val="1B1F3B"/>
                </a:solidFill>
                <a:latin typeface="Calibri"/>
              </a:rPr>
              <a:t> </a:t>
            </a:r>
            <a:r>
              <a:rPr sz="1000" b="0" i="0" dirty="0" err="1">
                <a:solidFill>
                  <a:srgbClr val="1B1F3B"/>
                </a:solidFill>
                <a:latin typeface="Calibri"/>
              </a:rPr>
              <a:t>срещу</a:t>
            </a:r>
            <a:r>
              <a:rPr sz="1000" b="0" i="0" dirty="0">
                <a:solidFill>
                  <a:srgbClr val="1B1F3B"/>
                </a:solidFill>
                <a:latin typeface="Calibri"/>
              </a:rPr>
              <a:t> </a:t>
            </a:r>
            <a:r>
              <a:rPr sz="1000" b="0" i="0" dirty="0" err="1">
                <a:solidFill>
                  <a:srgbClr val="1B1F3B"/>
                </a:solidFill>
                <a:latin typeface="Calibri"/>
              </a:rPr>
              <a:t>запазени</a:t>
            </a:r>
            <a:r>
              <a:rPr sz="1000" b="0" i="0" dirty="0">
                <a:solidFill>
                  <a:srgbClr val="1B1F3B"/>
                </a:solidFill>
                <a:latin typeface="Calibri"/>
              </a:rPr>
              <a:t> </a:t>
            </a:r>
            <a:r>
              <a:rPr sz="1000" b="0" i="0" dirty="0" err="1">
                <a:solidFill>
                  <a:srgbClr val="1B1F3B"/>
                </a:solidFill>
                <a:latin typeface="Calibri"/>
              </a:rPr>
              <a:t>думи</a:t>
            </a:r>
            <a:r>
              <a:rPr lang="bg-BG" sz="1000" b="0" i="0" dirty="0">
                <a:solidFill>
                  <a:srgbClr val="1B1F3B"/>
                </a:solidFill>
                <a:latin typeface="Calibri"/>
              </a:rPr>
              <a:t> в целевата СУБД</a:t>
            </a:r>
            <a:r>
              <a:rPr sz="1000" b="0" i="0" dirty="0">
                <a:solidFill>
                  <a:srgbClr val="1B1F3B"/>
                </a:solidFill>
                <a:latin typeface="Calibri"/>
              </a:rPr>
              <a:t>.</a:t>
            </a:r>
          </a:p>
        </p:txBody>
      </p:sp>
      <p:sp>
        <p:nvSpPr>
          <p:cNvPr id="25" name="Rounded Rectangle 24"/>
          <p:cNvSpPr/>
          <p:nvPr/>
        </p:nvSpPr>
        <p:spPr>
          <a:xfrm>
            <a:off x="9006839" y="1691640"/>
            <a:ext cx="2514600" cy="288036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208007" y="1920240"/>
            <a:ext cx="457200" cy="457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5"/>
          <a:stretch>
            <a:fillRect/>
          </a:stretch>
        </p:blipFill>
        <p:spPr>
          <a:xfrm>
            <a:off x="9267443" y="1979676"/>
            <a:ext cx="338328" cy="338328"/>
          </a:xfrm>
          <a:prstGeom prst="rect">
            <a:avLst/>
          </a:prstGeom>
        </p:spPr>
      </p:pic>
      <p:sp>
        <p:nvSpPr>
          <p:cNvPr id="28" name="Rounded Rectangle 27"/>
          <p:cNvSpPr/>
          <p:nvPr/>
        </p:nvSpPr>
        <p:spPr>
          <a:xfrm>
            <a:off x="9966959" y="1984248"/>
            <a:ext cx="1371600" cy="292608"/>
          </a:xfrm>
          <a:prstGeom prst="roundRect">
            <a:avLst>
              <a:gd name="adj" fmla="val 50000"/>
            </a:avLst>
          </a:prstGeom>
          <a:solidFill>
            <a:srgbClr val="FBE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66959" y="1984248"/>
            <a:ext cx="1371600" cy="292608"/>
          </a:xfrm>
          <a:prstGeom prst="rect">
            <a:avLst/>
          </a:prstGeom>
          <a:noFill/>
        </p:spPr>
        <p:txBody>
          <a:bodyPr wrap="square" lIns="0" tIns="0" rIns="0" bIns="0" anchor="ctr">
            <a:spAutoFit/>
          </a:bodyPr>
          <a:lstStyle/>
          <a:p>
            <a:pPr algn="ctr"/>
            <a:r>
              <a:rPr sz="850" b="1" i="0">
                <a:solidFill>
                  <a:srgbClr val="1E2761"/>
                </a:solidFill>
                <a:latin typeface="Calibri"/>
              </a:rPr>
              <a:t>execution</a:t>
            </a:r>
          </a:p>
        </p:txBody>
      </p:sp>
      <p:sp>
        <p:nvSpPr>
          <p:cNvPr id="30" name="TextBox 29"/>
          <p:cNvSpPr txBox="1"/>
          <p:nvPr/>
        </p:nvSpPr>
        <p:spPr>
          <a:xfrm>
            <a:off x="9208007" y="2560320"/>
            <a:ext cx="2112264" cy="502920"/>
          </a:xfrm>
          <a:prstGeom prst="rect">
            <a:avLst/>
          </a:prstGeom>
          <a:noFill/>
        </p:spPr>
        <p:txBody>
          <a:bodyPr wrap="square" lIns="0" tIns="0" rIns="0" bIns="0" anchor="t">
            <a:spAutoFit/>
          </a:bodyPr>
          <a:lstStyle/>
          <a:p>
            <a:pPr algn="l">
              <a:lnSpc>
                <a:spcPct val="100000"/>
              </a:lnSpc>
            </a:pPr>
            <a:r>
              <a:rPr sz="1150" b="1" i="0">
                <a:solidFill>
                  <a:srgbClr val="1E2761"/>
                </a:solidFill>
                <a:latin typeface="Courier New"/>
              </a:rPr>
              <a:t>database-dialects/*.json</a:t>
            </a:r>
          </a:p>
        </p:txBody>
      </p:sp>
      <p:sp>
        <p:nvSpPr>
          <p:cNvPr id="31" name="TextBox 30"/>
          <p:cNvSpPr txBox="1"/>
          <p:nvPr/>
        </p:nvSpPr>
        <p:spPr>
          <a:xfrm>
            <a:off x="9208007" y="3108960"/>
            <a:ext cx="2112264" cy="1371600"/>
          </a:xfrm>
          <a:prstGeom prst="rect">
            <a:avLst/>
          </a:prstGeom>
          <a:noFill/>
        </p:spPr>
        <p:txBody>
          <a:bodyPr wrap="square" lIns="0" tIns="0" rIns="0" bIns="0" anchor="t">
            <a:spAutoFit/>
          </a:bodyPr>
          <a:lstStyle/>
          <a:p>
            <a:pPr algn="l">
              <a:lnSpc>
                <a:spcPct val="110000"/>
              </a:lnSpc>
            </a:pPr>
            <a:r>
              <a:rPr sz="1000" b="0" i="0">
                <a:solidFill>
                  <a:srgbClr val="1B1F3B"/>
                </a:solidFill>
                <a:latin typeface="Calibri"/>
              </a:rPr>
              <a:t>DDLGenerator генерира валиден синтаксис за CREATE/ALTER според диалекта на целевата база.</a:t>
            </a:r>
          </a:p>
        </p:txBody>
      </p:sp>
      <p:sp>
        <p:nvSpPr>
          <p:cNvPr id="32" name="Rounded Rectangle 31"/>
          <p:cNvSpPr/>
          <p:nvPr/>
        </p:nvSpPr>
        <p:spPr>
          <a:xfrm>
            <a:off x="640080" y="5024628"/>
            <a:ext cx="10881360" cy="86868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68680" y="5225796"/>
            <a:ext cx="457200" cy="45720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image.png"/>
          <p:cNvPicPr>
            <a:picLocks noChangeAspect="1"/>
          </p:cNvPicPr>
          <p:nvPr/>
        </p:nvPicPr>
        <p:blipFill>
          <a:blip r:embed="rId6"/>
          <a:stretch>
            <a:fillRect/>
          </a:stretch>
        </p:blipFill>
        <p:spPr>
          <a:xfrm>
            <a:off x="928115" y="5285232"/>
            <a:ext cx="338328" cy="338328"/>
          </a:xfrm>
          <a:prstGeom prst="rect">
            <a:avLst/>
          </a:prstGeom>
        </p:spPr>
      </p:pic>
      <p:sp>
        <p:nvSpPr>
          <p:cNvPr id="35" name="TextBox 34"/>
          <p:cNvSpPr txBox="1"/>
          <p:nvPr/>
        </p:nvSpPr>
        <p:spPr>
          <a:xfrm>
            <a:off x="1508760" y="5161788"/>
            <a:ext cx="8961120" cy="320040"/>
          </a:xfrm>
          <a:prstGeom prst="rect">
            <a:avLst/>
          </a:prstGeom>
          <a:noFill/>
        </p:spPr>
        <p:txBody>
          <a:bodyPr wrap="square" lIns="0" tIns="0" rIns="0" bIns="0" anchor="t">
            <a:spAutoFit/>
          </a:bodyPr>
          <a:lstStyle/>
          <a:p>
            <a:pPr algn="l"/>
            <a:r>
              <a:rPr sz="1250" b="1" i="0">
                <a:solidFill>
                  <a:srgbClr val="FFFFFF"/>
                </a:solidFill>
                <a:latin typeface="Calibri"/>
              </a:rPr>
              <a:t>Loader класове зареждат всеки файл в типизиран конфигурационен модел при стартиране</a:t>
            </a:r>
          </a:p>
        </p:txBody>
      </p:sp>
      <p:sp>
        <p:nvSpPr>
          <p:cNvPr id="36" name="TextBox 35"/>
          <p:cNvSpPr txBox="1"/>
          <p:nvPr/>
        </p:nvSpPr>
        <p:spPr>
          <a:xfrm>
            <a:off x="1508760" y="5481828"/>
            <a:ext cx="8961120" cy="320040"/>
          </a:xfrm>
          <a:prstGeom prst="rect">
            <a:avLst/>
          </a:prstGeom>
          <a:noFill/>
        </p:spPr>
        <p:txBody>
          <a:bodyPr wrap="square" lIns="0" tIns="0" rIns="0" bIns="0" anchor="t">
            <a:spAutoFit/>
          </a:bodyPr>
          <a:lstStyle/>
          <a:p>
            <a:pPr algn="l"/>
            <a:r>
              <a:rPr sz="1150" b="0" i="1">
                <a:solidFill>
                  <a:srgbClr val="3DDC97"/>
                </a:solidFill>
                <a:latin typeface="Calibri"/>
              </a:rPr>
              <a:t>Нова СУБД = нови JSON файлове в тези четири категории — нула промени в Java кода</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bg-BG" sz="3000" b="1" dirty="0">
                <a:solidFill>
                  <a:srgbClr val="1B1F3B"/>
                </a:solidFill>
                <a:latin typeface="Calibri" pitchFamily="34" charset="0"/>
                <a:ea typeface="Calibri" pitchFamily="34" charset="-122"/>
                <a:cs typeface="Calibri" pitchFamily="34" charset="-120"/>
              </a:rPr>
              <a:t>Прилагане на трансформации</a:t>
            </a:r>
            <a:endParaRPr lang="en-US" sz="3000" dirty="0"/>
          </a:p>
        </p:txBody>
      </p:sp>
      <p:sp>
        <p:nvSpPr>
          <p:cNvPr id="4" name="Shape 2"/>
          <p:cNvSpPr/>
          <p:nvPr/>
        </p:nvSpPr>
        <p:spPr>
          <a:xfrm>
            <a:off x="640080" y="1504188"/>
            <a:ext cx="5212080" cy="4434840"/>
          </a:xfrm>
          <a:prstGeom prst="roundRect">
            <a:avLst>
              <a:gd name="adj" fmla="val 2062"/>
            </a:avLst>
          </a:prstGeom>
          <a:solidFill>
            <a:srgbClr val="F4F6FC"/>
          </a:solidFill>
          <a:ln/>
        </p:spPr>
        <p:txBody>
          <a:bodyPr/>
          <a:lstStyle/>
          <a:p>
            <a:endParaRPr lang="en-US"/>
          </a:p>
        </p:txBody>
      </p:sp>
      <p:sp>
        <p:nvSpPr>
          <p:cNvPr id="5" name="Shape 3"/>
          <p:cNvSpPr/>
          <p:nvPr/>
        </p:nvSpPr>
        <p:spPr>
          <a:xfrm>
            <a:off x="914400" y="1778508"/>
            <a:ext cx="502920" cy="502920"/>
          </a:xfrm>
          <a:prstGeom prst="ellipse">
            <a:avLst/>
          </a:prstGeom>
          <a:solidFill>
            <a:srgbClr val="CADCF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79780" y="1843888"/>
            <a:ext cx="372161" cy="372161"/>
          </a:xfrm>
          <a:prstGeom prst="rect">
            <a:avLst/>
          </a:prstGeom>
        </p:spPr>
      </p:pic>
      <p:sp>
        <p:nvSpPr>
          <p:cNvPr id="7" name="Text 4"/>
          <p:cNvSpPr/>
          <p:nvPr/>
        </p:nvSpPr>
        <p:spPr>
          <a:xfrm>
            <a:off x="914400" y="2372868"/>
            <a:ext cx="46634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Поддържани операции</a:t>
            </a:r>
            <a:endParaRPr lang="en-US" sz="1600" dirty="0"/>
          </a:p>
        </p:txBody>
      </p:sp>
      <p:sp>
        <p:nvSpPr>
          <p:cNvPr id="8" name="Text 5"/>
          <p:cNvSpPr/>
          <p:nvPr/>
        </p:nvSpPr>
        <p:spPr>
          <a:xfrm>
            <a:off x="914400" y="2875788"/>
            <a:ext cx="1371600" cy="50292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Таблици:</a:t>
            </a:r>
            <a:endParaRPr lang="en-US" sz="1300" dirty="0"/>
          </a:p>
        </p:txBody>
      </p:sp>
      <p:sp>
        <p:nvSpPr>
          <p:cNvPr id="9" name="Text 6"/>
          <p:cNvSpPr/>
          <p:nvPr/>
        </p:nvSpPr>
        <p:spPr>
          <a:xfrm>
            <a:off x="2057400" y="2875788"/>
            <a:ext cx="3383280" cy="502920"/>
          </a:xfrm>
          <a:prstGeom prst="rect">
            <a:avLst/>
          </a:prstGeom>
          <a:noFill/>
          <a:ln/>
        </p:spPr>
        <p:txBody>
          <a:bodyPr wrap="square" lIns="0" tIns="0" rIns="0" bIns="0" rtlCol="0" anchor="t"/>
          <a:lstStyle/>
          <a:p>
            <a:pPr marL="0" indent="0">
              <a:buNone/>
            </a:pPr>
            <a:r>
              <a:rPr lang="bg-BG" sz="1200" dirty="0">
                <a:solidFill>
                  <a:srgbClr val="1B1F3B"/>
                </a:solidFill>
                <a:latin typeface="Calibri" pitchFamily="34" charset="0"/>
                <a:ea typeface="Calibri" pitchFamily="34" charset="-122"/>
                <a:cs typeface="Calibri" pitchFamily="34" charset="-120"/>
              </a:rPr>
              <a:t>преименуване</a:t>
            </a:r>
            <a:r>
              <a:rPr lang="en-US" sz="1200" dirty="0">
                <a:solidFill>
                  <a:srgbClr val="1B1F3B"/>
                </a:solidFill>
                <a:latin typeface="Calibri" pitchFamily="34" charset="0"/>
                <a:ea typeface="Calibri" pitchFamily="34" charset="-122"/>
                <a:cs typeface="Calibri" pitchFamily="34" charset="-120"/>
              </a:rPr>
              <a:t>, добавяне, изключване от миграция</a:t>
            </a:r>
            <a:endParaRPr lang="en-US" sz="1200" dirty="0"/>
          </a:p>
        </p:txBody>
      </p:sp>
      <p:sp>
        <p:nvSpPr>
          <p:cNvPr id="10" name="Text 7"/>
          <p:cNvSpPr/>
          <p:nvPr/>
        </p:nvSpPr>
        <p:spPr>
          <a:xfrm>
            <a:off x="914400" y="3534156"/>
            <a:ext cx="1371600" cy="50292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Колони:</a:t>
            </a:r>
            <a:endParaRPr lang="en-US" sz="1300" dirty="0"/>
          </a:p>
        </p:txBody>
      </p:sp>
      <p:sp>
        <p:nvSpPr>
          <p:cNvPr id="11" name="Text 8"/>
          <p:cNvSpPr/>
          <p:nvPr/>
        </p:nvSpPr>
        <p:spPr>
          <a:xfrm>
            <a:off x="2057400" y="3534156"/>
            <a:ext cx="3383280" cy="502920"/>
          </a:xfrm>
          <a:prstGeom prst="rect">
            <a:avLst/>
          </a:prstGeom>
          <a:noFill/>
          <a:ln/>
        </p:spPr>
        <p:txBody>
          <a:bodyPr wrap="square" lIns="0" tIns="0" rIns="0" bIns="0" rtlCol="0" anchor="t"/>
          <a:lstStyle/>
          <a:p>
            <a:r>
              <a:rPr lang="bg-BG" sz="1200" dirty="0">
                <a:solidFill>
                  <a:srgbClr val="1B1F3B"/>
                </a:solidFill>
                <a:latin typeface="Calibri" pitchFamily="34" charset="0"/>
                <a:ea typeface="Calibri" pitchFamily="34" charset="-122"/>
                <a:cs typeface="Calibri" pitchFamily="34" charset="-120"/>
              </a:rPr>
              <a:t>преименуване</a:t>
            </a:r>
            <a:r>
              <a:rPr lang="en-US" sz="1200" dirty="0">
                <a:solidFill>
                  <a:srgbClr val="1B1F3B"/>
                </a:solidFill>
                <a:latin typeface="Calibri" pitchFamily="34" charset="0"/>
                <a:ea typeface="Calibri" pitchFamily="34" charset="-122"/>
                <a:cs typeface="Calibri" pitchFamily="34" charset="-120"/>
              </a:rPr>
              <a:t>, смяна на тип, добавяне, изключване от миграция</a:t>
            </a:r>
            <a:endParaRPr lang="en-US" sz="1200" dirty="0"/>
          </a:p>
        </p:txBody>
      </p:sp>
      <p:sp>
        <p:nvSpPr>
          <p:cNvPr id="12" name="Text 9"/>
          <p:cNvSpPr/>
          <p:nvPr/>
        </p:nvSpPr>
        <p:spPr>
          <a:xfrm>
            <a:off x="914400" y="4192524"/>
            <a:ext cx="1371600" cy="502920"/>
          </a:xfrm>
          <a:prstGeom prst="rect">
            <a:avLst/>
          </a:prstGeom>
          <a:noFill/>
          <a:ln/>
        </p:spPr>
        <p:txBody>
          <a:bodyPr wrap="square" lIns="0" tIns="0" rIns="0" bIns="0" rtlCol="0" anchor="t"/>
          <a:lstStyle/>
          <a:p>
            <a:pPr marL="0" indent="0">
              <a:buNone/>
            </a:pPr>
            <a:r>
              <a:rPr lang="bg-BG" sz="1300" b="1" dirty="0">
                <a:solidFill>
                  <a:srgbClr val="1E2761"/>
                </a:solidFill>
                <a:latin typeface="Calibri" pitchFamily="34" charset="0"/>
                <a:ea typeface="Calibri" pitchFamily="34" charset="-122"/>
                <a:cs typeface="Calibri" pitchFamily="34" charset="-120"/>
              </a:rPr>
              <a:t>Релации</a:t>
            </a: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2057400" y="4192524"/>
            <a:ext cx="3383280" cy="502920"/>
          </a:xfrm>
          <a:prstGeom prst="rect">
            <a:avLst/>
          </a:prstGeom>
          <a:noFill/>
          <a:ln/>
        </p:spPr>
        <p:txBody>
          <a:bodyPr wrap="square" lIns="0" tIns="0" rIns="0" bIns="0" rtlCol="0" anchor="t"/>
          <a:lstStyle/>
          <a:p>
            <a:pPr marL="0" indent="0">
              <a:buNone/>
            </a:pPr>
            <a:r>
              <a:rPr lang="bg-BG" sz="1200" dirty="0">
                <a:solidFill>
                  <a:srgbClr val="1B1F3B"/>
                </a:solidFill>
                <a:latin typeface="Calibri" pitchFamily="34" charset="0"/>
                <a:ea typeface="Calibri" pitchFamily="34" charset="-122"/>
                <a:cs typeface="Calibri" pitchFamily="34" charset="-120"/>
              </a:rPr>
              <a:t>изтриване на релация</a:t>
            </a:r>
            <a:r>
              <a:rPr lang="en-US" sz="1200" dirty="0">
                <a:solidFill>
                  <a:srgbClr val="1B1F3B"/>
                </a:solidFill>
                <a:latin typeface="Calibri" pitchFamily="34" charset="0"/>
                <a:ea typeface="Calibri" pitchFamily="34" charset="-122"/>
                <a:cs typeface="Calibri" pitchFamily="34" charset="-120"/>
              </a:rPr>
              <a:t>, </a:t>
            </a:r>
            <a:r>
              <a:rPr lang="bg-BG" sz="1200" dirty="0">
                <a:solidFill>
                  <a:srgbClr val="1B1F3B"/>
                </a:solidFill>
                <a:latin typeface="Calibri" pitchFamily="34" charset="0"/>
                <a:ea typeface="Calibri" pitchFamily="34" charset="-122"/>
                <a:cs typeface="Calibri" pitchFamily="34" charset="-120"/>
              </a:rPr>
              <a:t>добавяне на релация</a:t>
            </a:r>
            <a:endParaRPr lang="en-US" sz="1200" dirty="0"/>
          </a:p>
        </p:txBody>
      </p:sp>
      <p:sp>
        <p:nvSpPr>
          <p:cNvPr id="14" name="Shape 11"/>
          <p:cNvSpPr/>
          <p:nvPr/>
        </p:nvSpPr>
        <p:spPr>
          <a:xfrm>
            <a:off x="914400" y="5024628"/>
            <a:ext cx="4663440" cy="777240"/>
          </a:xfrm>
          <a:prstGeom prst="roundRect">
            <a:avLst>
              <a:gd name="adj" fmla="val 9412"/>
            </a:avLst>
          </a:prstGeom>
          <a:solidFill>
            <a:srgbClr val="FFFFFF"/>
          </a:solidFill>
          <a:ln/>
        </p:spPr>
        <p:txBody>
          <a:bodyPr/>
          <a:lstStyle/>
          <a:p>
            <a:endParaRPr lang="en-US"/>
          </a:p>
        </p:txBody>
      </p:sp>
      <p:sp>
        <p:nvSpPr>
          <p:cNvPr id="15" name="Shape 12"/>
          <p:cNvSpPr/>
          <p:nvPr/>
        </p:nvSpPr>
        <p:spPr>
          <a:xfrm>
            <a:off x="1051560" y="5143500"/>
            <a:ext cx="411480" cy="411480"/>
          </a:xfrm>
          <a:prstGeom prst="ellipse">
            <a:avLst/>
          </a:prstGeom>
          <a:solidFill>
            <a:srgbClr val="CADCFC"/>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1105052" y="5196992"/>
            <a:ext cx="304495" cy="304495"/>
          </a:xfrm>
          <a:prstGeom prst="rect">
            <a:avLst/>
          </a:prstGeom>
        </p:spPr>
      </p:pic>
      <p:sp>
        <p:nvSpPr>
          <p:cNvPr id="17" name="Text 13"/>
          <p:cNvSpPr/>
          <p:nvPr/>
        </p:nvSpPr>
        <p:spPr>
          <a:xfrm>
            <a:off x="1600200" y="5024628"/>
            <a:ext cx="3840480" cy="777240"/>
          </a:xfrm>
          <a:prstGeom prst="rect">
            <a:avLst/>
          </a:prstGeom>
          <a:noFill/>
          <a:ln/>
        </p:spPr>
        <p:txBody>
          <a:bodyPr wrap="square" lIns="0" tIns="0" rIns="0" bIns="0" rtlCol="0" anchor="ctr"/>
          <a:lstStyle/>
          <a:p>
            <a:pPr marL="0" indent="0">
              <a:buNone/>
            </a:pPr>
            <a:r>
              <a:rPr lang="en-US" sz="1150" i="1" dirty="0">
                <a:solidFill>
                  <a:srgbClr val="1E2761"/>
                </a:solidFill>
                <a:latin typeface="Calibri" pitchFamily="34" charset="0"/>
                <a:ea typeface="Calibri" pitchFamily="34" charset="-122"/>
                <a:cs typeface="Calibri" pitchFamily="34" charset="-120"/>
              </a:rPr>
              <a:t>Confirm → моделът става неизменяем, заключен за изпълнение</a:t>
            </a:r>
            <a:endParaRPr lang="en-US" sz="1150" dirty="0"/>
          </a:p>
        </p:txBody>
      </p:sp>
      <p:sp>
        <p:nvSpPr>
          <p:cNvPr id="18" name="Shape 14"/>
          <p:cNvSpPr/>
          <p:nvPr/>
        </p:nvSpPr>
        <p:spPr>
          <a:xfrm>
            <a:off x="6126480" y="1504188"/>
            <a:ext cx="5394960" cy="4434840"/>
          </a:xfrm>
          <a:prstGeom prst="roundRect">
            <a:avLst>
              <a:gd name="adj" fmla="val 2062"/>
            </a:avLst>
          </a:prstGeom>
          <a:solidFill>
            <a:srgbClr val="1E2761"/>
          </a:solidFill>
          <a:ln/>
          <a:effectLst>
            <a:outerShdw blurRad="101600" dist="38100" dir="2700000" algn="bl" rotWithShape="0">
              <a:srgbClr val="1E2761">
                <a:alpha val="12000"/>
              </a:srgbClr>
            </a:outerShdw>
          </a:effectLst>
        </p:spPr>
        <p:txBody>
          <a:bodyPr/>
          <a:lstStyle/>
          <a:p>
            <a:endParaRPr lang="en-US"/>
          </a:p>
        </p:txBody>
      </p:sp>
      <p:sp>
        <p:nvSpPr>
          <p:cNvPr id="19" name="Shape 15"/>
          <p:cNvSpPr/>
          <p:nvPr/>
        </p:nvSpPr>
        <p:spPr>
          <a:xfrm>
            <a:off x="6400800" y="1778508"/>
            <a:ext cx="502920" cy="502920"/>
          </a:xfrm>
          <a:prstGeom prst="ellipse">
            <a:avLst/>
          </a:prstGeom>
          <a:solidFill>
            <a:srgbClr val="2C3A78"/>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466180" y="1843888"/>
            <a:ext cx="372161" cy="372161"/>
          </a:xfrm>
          <a:prstGeom prst="rect">
            <a:avLst/>
          </a:prstGeom>
        </p:spPr>
      </p:pic>
      <p:sp>
        <p:nvSpPr>
          <p:cNvPr id="21" name="Text 16"/>
          <p:cNvSpPr/>
          <p:nvPr/>
        </p:nvSpPr>
        <p:spPr>
          <a:xfrm>
            <a:off x="6400800" y="2372868"/>
            <a:ext cx="4846320" cy="365760"/>
          </a:xfrm>
          <a:prstGeom prst="rect">
            <a:avLst/>
          </a:prstGeom>
          <a:noFill/>
          <a:ln/>
        </p:spPr>
        <p:txBody>
          <a:bodyPr wrap="square" lIns="0" tIns="0" rIns="0" bIns="0" rtlCol="0" anchor="ctr"/>
          <a:lstStyle/>
          <a:p>
            <a:pPr marL="0" indent="0">
              <a:buNone/>
            </a:pPr>
            <a:r>
              <a:rPr lang="bg-BG" sz="1600" b="1" dirty="0">
                <a:solidFill>
                  <a:srgbClr val="FFFFFF"/>
                </a:solidFill>
                <a:latin typeface="Calibri" pitchFamily="34" charset="0"/>
                <a:ea typeface="Calibri" pitchFamily="34" charset="-122"/>
                <a:cs typeface="Calibri" pitchFamily="34" charset="-120"/>
              </a:rPr>
              <a:t>Валидация на трансформациите</a:t>
            </a:r>
            <a:endParaRPr lang="en-US" sz="1600" dirty="0"/>
          </a:p>
        </p:txBody>
      </p:sp>
      <p:sp>
        <p:nvSpPr>
          <p:cNvPr id="22" name="Text 17"/>
          <p:cNvSpPr/>
          <p:nvPr/>
        </p:nvSpPr>
        <p:spPr>
          <a:xfrm>
            <a:off x="6400800" y="2784348"/>
            <a:ext cx="484632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Преди да бъде приета всяка промяна:</a:t>
            </a:r>
            <a:endParaRPr lang="en-US" sz="1200" dirty="0"/>
          </a:p>
        </p:txBody>
      </p:sp>
      <p:sp>
        <p:nvSpPr>
          <p:cNvPr id="23" name="Text 18"/>
          <p:cNvSpPr/>
          <p:nvPr/>
        </p:nvSpPr>
        <p:spPr>
          <a:xfrm>
            <a:off x="6537960" y="3195828"/>
            <a:ext cx="4663440" cy="17373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проверка за </a:t>
            </a:r>
            <a:r>
              <a:rPr lang="bg-BG" sz="1300" dirty="0">
                <a:solidFill>
                  <a:srgbClr val="FFFFFF"/>
                </a:solidFill>
                <a:latin typeface="Calibri" pitchFamily="34" charset="0"/>
                <a:ea typeface="Calibri" pitchFamily="34" charset="-122"/>
                <a:cs typeface="Calibri" pitchFamily="34" charset="-120"/>
              </a:rPr>
              <a:t>ключови думи</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проверка за съвместимост на типовете</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проверка за дублирани </a:t>
            </a:r>
            <a:r>
              <a:rPr lang="bg-BG" sz="1300" dirty="0">
                <a:solidFill>
                  <a:srgbClr val="FFFFFF"/>
                </a:solidFill>
                <a:latin typeface="Calibri" pitchFamily="34" charset="0"/>
                <a:ea typeface="Calibri" pitchFamily="34" charset="-122"/>
                <a:cs typeface="Calibri" pitchFamily="34" charset="-120"/>
              </a:rPr>
              <a:t>имена</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проверка за </a:t>
            </a:r>
            <a:r>
              <a:rPr lang="bg-BG" sz="1300" dirty="0">
                <a:solidFill>
                  <a:srgbClr val="FFFFFF"/>
                </a:solidFill>
                <a:latin typeface="Calibri" pitchFamily="34" charset="0"/>
                <a:ea typeface="Calibri" pitchFamily="34" charset="-122"/>
                <a:cs typeface="Calibri" pitchFamily="34" charset="-120"/>
              </a:rPr>
              <a:t>въздействие</a:t>
            </a:r>
            <a:r>
              <a:rPr lang="en-US" sz="1300" dirty="0">
                <a:solidFill>
                  <a:srgbClr val="FFFFFF"/>
                </a:solidFill>
                <a:latin typeface="Calibri" pitchFamily="34" charset="0"/>
                <a:ea typeface="Calibri" pitchFamily="34" charset="-122"/>
                <a:cs typeface="Calibri" pitchFamily="34" charset="-120"/>
              </a:rPr>
              <a:t> върху </a:t>
            </a:r>
            <a:r>
              <a:rPr lang="bg-BG" sz="1300" dirty="0">
                <a:solidFill>
                  <a:srgbClr val="FFFFFF"/>
                </a:solidFill>
                <a:latin typeface="Calibri" pitchFamily="34" charset="0"/>
                <a:ea typeface="Calibri" pitchFamily="34" charset="-122"/>
                <a:cs typeface="Calibri" pitchFamily="34" charset="-120"/>
              </a:rPr>
              <a:t>релациите</a:t>
            </a:r>
            <a:endParaRPr lang="en-US" sz="13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640080" y="502920"/>
            <a:ext cx="640080" cy="64008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723290" y="586130"/>
            <a:ext cx="473659" cy="473659"/>
          </a:xfrm>
          <a:prstGeom prst="rect">
            <a:avLst/>
          </a:prstGeom>
        </p:spPr>
      </p:pic>
      <p:sp>
        <p:nvSpPr>
          <p:cNvPr id="4" name="TextBox 3"/>
          <p:cNvSpPr txBox="1"/>
          <p:nvPr/>
        </p:nvSpPr>
        <p:spPr>
          <a:xfrm>
            <a:off x="1463040" y="615211"/>
            <a:ext cx="10058400" cy="415498"/>
          </a:xfrm>
          <a:prstGeom prst="rect">
            <a:avLst/>
          </a:prstGeom>
          <a:noFill/>
        </p:spPr>
        <p:txBody>
          <a:bodyPr wrap="square" lIns="0" tIns="0" rIns="0" bIns="0" anchor="ctr">
            <a:spAutoFit/>
          </a:bodyPr>
          <a:lstStyle/>
          <a:p>
            <a:pPr algn="l"/>
            <a:r>
              <a:rPr sz="2700" b="1" i="0" dirty="0">
                <a:solidFill>
                  <a:srgbClr val="FFFFFF"/>
                </a:solidFill>
                <a:latin typeface="Calibri"/>
              </a:rPr>
              <a:t>DAG-</a:t>
            </a:r>
            <a:r>
              <a:rPr sz="2700" b="1" i="0" dirty="0" err="1">
                <a:solidFill>
                  <a:srgbClr val="FFFFFF"/>
                </a:solidFill>
                <a:latin typeface="Calibri"/>
              </a:rPr>
              <a:t>базирано</a:t>
            </a:r>
            <a:r>
              <a:rPr sz="2700" b="1" i="0" dirty="0">
                <a:solidFill>
                  <a:srgbClr val="FFFFFF"/>
                </a:solidFill>
                <a:latin typeface="Calibri"/>
              </a:rPr>
              <a:t> </a:t>
            </a:r>
            <a:r>
              <a:rPr lang="bg-BG" sz="2700" b="1" i="0" dirty="0">
                <a:solidFill>
                  <a:srgbClr val="FFFFFF"/>
                </a:solidFill>
                <a:latin typeface="Calibri"/>
              </a:rPr>
              <a:t>разрешаване</a:t>
            </a:r>
            <a:r>
              <a:rPr sz="2700" b="1" i="0" dirty="0">
                <a:solidFill>
                  <a:srgbClr val="FFFFFF"/>
                </a:solidFill>
                <a:latin typeface="Calibri"/>
              </a:rPr>
              <a:t> </a:t>
            </a:r>
            <a:r>
              <a:rPr sz="2700" b="1" i="0" dirty="0" err="1">
                <a:solidFill>
                  <a:srgbClr val="FFFFFF"/>
                </a:solidFill>
                <a:latin typeface="Calibri"/>
              </a:rPr>
              <a:t>на</a:t>
            </a:r>
            <a:r>
              <a:rPr sz="2700" b="1" i="0" dirty="0">
                <a:solidFill>
                  <a:srgbClr val="FFFFFF"/>
                </a:solidFill>
                <a:latin typeface="Calibri"/>
              </a:rPr>
              <a:t> </a:t>
            </a:r>
            <a:r>
              <a:rPr sz="2700" b="1" i="0" dirty="0" err="1">
                <a:solidFill>
                  <a:srgbClr val="FFFFFF"/>
                </a:solidFill>
                <a:latin typeface="Calibri"/>
              </a:rPr>
              <a:t>зависимости</a:t>
            </a:r>
            <a:endParaRPr sz="2700" b="1" i="0" dirty="0">
              <a:solidFill>
                <a:srgbClr val="FFFFFF"/>
              </a:solidFill>
              <a:latin typeface="Calibri"/>
            </a:endParaRPr>
          </a:p>
        </p:txBody>
      </p:sp>
      <p:sp>
        <p:nvSpPr>
          <p:cNvPr id="5" name="TextBox 4"/>
          <p:cNvSpPr txBox="1"/>
          <p:nvPr/>
        </p:nvSpPr>
        <p:spPr>
          <a:xfrm>
            <a:off x="1463040" y="1097280"/>
            <a:ext cx="8229600" cy="200055"/>
          </a:xfrm>
          <a:prstGeom prst="rect">
            <a:avLst/>
          </a:prstGeom>
          <a:noFill/>
        </p:spPr>
        <p:txBody>
          <a:bodyPr wrap="square" lIns="0" tIns="0" rIns="0" bIns="0" anchor="t">
            <a:spAutoFit/>
          </a:bodyPr>
          <a:lstStyle/>
          <a:p>
            <a:pPr algn="l"/>
            <a:r>
              <a:rPr lang="bg-BG" sz="1300" i="1" dirty="0">
                <a:solidFill>
                  <a:srgbClr val="3DDC97"/>
                </a:solidFill>
                <a:latin typeface="Calibri"/>
              </a:rPr>
              <a:t>Двигателя на миграцията</a:t>
            </a:r>
            <a:endParaRPr sz="1300" b="0" i="1" dirty="0">
              <a:solidFill>
                <a:srgbClr val="3DDC97"/>
              </a:solidFill>
              <a:latin typeface="Calibri"/>
            </a:endParaRPr>
          </a:p>
        </p:txBody>
      </p:sp>
      <p:sp>
        <p:nvSpPr>
          <p:cNvPr id="6" name="Rounded Rectangle 5"/>
          <p:cNvSpPr/>
          <p:nvPr/>
        </p:nvSpPr>
        <p:spPr>
          <a:xfrm>
            <a:off x="640080" y="1554480"/>
            <a:ext cx="10881360" cy="713232"/>
          </a:xfrm>
          <a:prstGeom prst="roundRect">
            <a:avLst>
              <a:gd name="adj" fmla="val 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1248" y="1719072"/>
            <a:ext cx="384048" cy="384048"/>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hield_accent.png"/>
          <p:cNvPicPr>
            <a:picLocks noChangeAspect="1"/>
          </p:cNvPicPr>
          <p:nvPr/>
        </p:nvPicPr>
        <p:blipFill>
          <a:blip r:embed="rId4"/>
          <a:stretch>
            <a:fillRect/>
          </a:stretch>
        </p:blipFill>
        <p:spPr>
          <a:xfrm>
            <a:off x="891174" y="1768998"/>
            <a:ext cx="284195" cy="284195"/>
          </a:xfrm>
          <a:prstGeom prst="rect">
            <a:avLst/>
          </a:prstGeom>
        </p:spPr>
      </p:pic>
      <p:sp>
        <p:nvSpPr>
          <p:cNvPr id="9" name="TextBox 8"/>
          <p:cNvSpPr txBox="1"/>
          <p:nvPr/>
        </p:nvSpPr>
        <p:spPr>
          <a:xfrm>
            <a:off x="1371600" y="1757592"/>
            <a:ext cx="1842655" cy="307007"/>
          </a:xfrm>
          <a:prstGeom prst="rect">
            <a:avLst/>
          </a:prstGeom>
          <a:noFill/>
        </p:spPr>
        <p:txBody>
          <a:bodyPr wrap="square" lIns="0" tIns="0" rIns="0" bIns="0" anchor="ctr">
            <a:spAutoFit/>
          </a:bodyPr>
          <a:lstStyle/>
          <a:p>
            <a:pPr algn="l">
              <a:lnSpc>
                <a:spcPct val="95000"/>
              </a:lnSpc>
            </a:pPr>
            <a:r>
              <a:rPr sz="1050" b="1" i="0">
                <a:solidFill>
                  <a:srgbClr val="3DDC97"/>
                </a:solidFill>
                <a:latin typeface="Calibri"/>
              </a:rPr>
              <a:t>PreExecution
Validator</a:t>
            </a:r>
          </a:p>
        </p:txBody>
      </p:sp>
      <p:pic>
        <p:nvPicPr>
          <p:cNvPr id="10" name="Picture 9" descr="image.png"/>
          <p:cNvPicPr>
            <a:picLocks noChangeAspect="1"/>
          </p:cNvPicPr>
          <p:nvPr/>
        </p:nvPicPr>
        <p:blipFill>
          <a:blip r:embed="rId5"/>
          <a:stretch>
            <a:fillRect/>
          </a:stretch>
        </p:blipFill>
        <p:spPr>
          <a:xfrm>
            <a:off x="3520440" y="1792224"/>
            <a:ext cx="237744" cy="237744"/>
          </a:xfrm>
          <a:prstGeom prst="rect">
            <a:avLst/>
          </a:prstGeom>
        </p:spPr>
      </p:pic>
      <p:sp>
        <p:nvSpPr>
          <p:cNvPr id="11" name="TextBox 10"/>
          <p:cNvSpPr txBox="1"/>
          <p:nvPr/>
        </p:nvSpPr>
        <p:spPr>
          <a:xfrm>
            <a:off x="3813048" y="1554480"/>
            <a:ext cx="1161288" cy="713232"/>
          </a:xfrm>
          <a:prstGeom prst="rect">
            <a:avLst/>
          </a:prstGeom>
          <a:noFill/>
        </p:spPr>
        <p:txBody>
          <a:bodyPr wrap="square" lIns="0" tIns="0" rIns="0" bIns="0" anchor="ctr">
            <a:spAutoFit/>
          </a:bodyPr>
          <a:lstStyle/>
          <a:p>
            <a:pPr algn="l">
              <a:lnSpc>
                <a:spcPct val="100000"/>
              </a:lnSpc>
            </a:pPr>
            <a:r>
              <a:rPr sz="950" b="0" i="0" dirty="0">
                <a:solidFill>
                  <a:srgbClr val="FFFFFF"/>
                </a:solidFill>
                <a:latin typeface="Calibri"/>
              </a:rPr>
              <a:t>scan: COMPLETED</a:t>
            </a:r>
          </a:p>
        </p:txBody>
      </p:sp>
      <p:pic>
        <p:nvPicPr>
          <p:cNvPr id="12" name="Picture 11" descr="image.png"/>
          <p:cNvPicPr>
            <a:picLocks noChangeAspect="1"/>
          </p:cNvPicPr>
          <p:nvPr/>
        </p:nvPicPr>
        <p:blipFill>
          <a:blip r:embed="rId5"/>
          <a:stretch>
            <a:fillRect/>
          </a:stretch>
        </p:blipFill>
        <p:spPr>
          <a:xfrm>
            <a:off x="5157216" y="1792224"/>
            <a:ext cx="237744" cy="237744"/>
          </a:xfrm>
          <a:prstGeom prst="rect">
            <a:avLst/>
          </a:prstGeom>
        </p:spPr>
      </p:pic>
      <p:sp>
        <p:nvSpPr>
          <p:cNvPr id="13" name="TextBox 12"/>
          <p:cNvSpPr txBox="1"/>
          <p:nvPr/>
        </p:nvSpPr>
        <p:spPr>
          <a:xfrm>
            <a:off x="5449824" y="1554480"/>
            <a:ext cx="1161288" cy="713232"/>
          </a:xfrm>
          <a:prstGeom prst="rect">
            <a:avLst/>
          </a:prstGeom>
          <a:noFill/>
        </p:spPr>
        <p:txBody>
          <a:bodyPr wrap="square" lIns="0" tIns="0" rIns="0" bIns="0" anchor="ctr">
            <a:spAutoFit/>
          </a:bodyPr>
          <a:lstStyle/>
          <a:p>
            <a:pPr algn="l">
              <a:lnSpc>
                <a:spcPct val="100000"/>
              </a:lnSpc>
            </a:pPr>
            <a:r>
              <a:rPr sz="950" b="0" i="0">
                <a:solidFill>
                  <a:srgbClr val="FFFFFF"/>
                </a:solidFill>
                <a:latin typeface="Calibri"/>
              </a:rPr>
              <a:t>DAG ацикличен</a:t>
            </a:r>
          </a:p>
        </p:txBody>
      </p:sp>
      <p:pic>
        <p:nvPicPr>
          <p:cNvPr id="14" name="Picture 13" descr="image.png"/>
          <p:cNvPicPr>
            <a:picLocks noChangeAspect="1"/>
          </p:cNvPicPr>
          <p:nvPr/>
        </p:nvPicPr>
        <p:blipFill>
          <a:blip r:embed="rId5"/>
          <a:stretch>
            <a:fillRect/>
          </a:stretch>
        </p:blipFill>
        <p:spPr>
          <a:xfrm>
            <a:off x="6793992" y="1792224"/>
            <a:ext cx="237744" cy="237744"/>
          </a:xfrm>
          <a:prstGeom prst="rect">
            <a:avLst/>
          </a:prstGeom>
        </p:spPr>
      </p:pic>
      <p:sp>
        <p:nvSpPr>
          <p:cNvPr id="15" name="TextBox 14"/>
          <p:cNvSpPr txBox="1"/>
          <p:nvPr/>
        </p:nvSpPr>
        <p:spPr>
          <a:xfrm>
            <a:off x="7086600" y="1554480"/>
            <a:ext cx="1161288" cy="713232"/>
          </a:xfrm>
          <a:prstGeom prst="rect">
            <a:avLst/>
          </a:prstGeom>
          <a:noFill/>
        </p:spPr>
        <p:txBody>
          <a:bodyPr wrap="square" lIns="0" tIns="0" rIns="0" bIns="0" anchor="ctr">
            <a:spAutoFit/>
          </a:bodyPr>
          <a:lstStyle/>
          <a:p>
            <a:pPr algn="l">
              <a:lnSpc>
                <a:spcPct val="100000"/>
              </a:lnSpc>
            </a:pPr>
            <a:r>
              <a:rPr sz="950" b="0" i="0">
                <a:solidFill>
                  <a:srgbClr val="FFFFFF"/>
                </a:solidFill>
                <a:latin typeface="Calibri"/>
              </a:rPr>
              <a:t>source връзка валидна</a:t>
            </a:r>
          </a:p>
        </p:txBody>
      </p:sp>
      <p:pic>
        <p:nvPicPr>
          <p:cNvPr id="16" name="Picture 15" descr="image.png"/>
          <p:cNvPicPr>
            <a:picLocks noChangeAspect="1"/>
          </p:cNvPicPr>
          <p:nvPr/>
        </p:nvPicPr>
        <p:blipFill>
          <a:blip r:embed="rId5"/>
          <a:stretch>
            <a:fillRect/>
          </a:stretch>
        </p:blipFill>
        <p:spPr>
          <a:xfrm>
            <a:off x="8430768" y="1792224"/>
            <a:ext cx="237744" cy="237744"/>
          </a:xfrm>
          <a:prstGeom prst="rect">
            <a:avLst/>
          </a:prstGeom>
        </p:spPr>
      </p:pic>
      <p:sp>
        <p:nvSpPr>
          <p:cNvPr id="17" name="TextBox 16"/>
          <p:cNvSpPr txBox="1"/>
          <p:nvPr/>
        </p:nvSpPr>
        <p:spPr>
          <a:xfrm>
            <a:off x="8723376" y="1554480"/>
            <a:ext cx="1161288" cy="713232"/>
          </a:xfrm>
          <a:prstGeom prst="rect">
            <a:avLst/>
          </a:prstGeom>
          <a:noFill/>
        </p:spPr>
        <p:txBody>
          <a:bodyPr wrap="square" lIns="0" tIns="0" rIns="0" bIns="0" anchor="ctr">
            <a:spAutoFit/>
          </a:bodyPr>
          <a:lstStyle/>
          <a:p>
            <a:pPr algn="l">
              <a:lnSpc>
                <a:spcPct val="100000"/>
              </a:lnSpc>
            </a:pPr>
            <a:r>
              <a:rPr sz="950" b="0" i="0">
                <a:solidFill>
                  <a:srgbClr val="FFFFFF"/>
                </a:solidFill>
                <a:latin typeface="Calibri"/>
              </a:rPr>
              <a:t>target връзка валидна</a:t>
            </a:r>
          </a:p>
        </p:txBody>
      </p:sp>
      <p:pic>
        <p:nvPicPr>
          <p:cNvPr id="18" name="Picture 17" descr="image.png"/>
          <p:cNvPicPr>
            <a:picLocks noChangeAspect="1"/>
          </p:cNvPicPr>
          <p:nvPr/>
        </p:nvPicPr>
        <p:blipFill>
          <a:blip r:embed="rId5"/>
          <a:stretch>
            <a:fillRect/>
          </a:stretch>
        </p:blipFill>
        <p:spPr>
          <a:xfrm>
            <a:off x="10067544" y="1792224"/>
            <a:ext cx="237744" cy="237744"/>
          </a:xfrm>
          <a:prstGeom prst="rect">
            <a:avLst/>
          </a:prstGeom>
        </p:spPr>
      </p:pic>
      <p:sp>
        <p:nvSpPr>
          <p:cNvPr id="19" name="TextBox 18"/>
          <p:cNvSpPr txBox="1"/>
          <p:nvPr/>
        </p:nvSpPr>
        <p:spPr>
          <a:xfrm>
            <a:off x="10360152" y="1554480"/>
            <a:ext cx="1161288" cy="713232"/>
          </a:xfrm>
          <a:prstGeom prst="rect">
            <a:avLst/>
          </a:prstGeom>
          <a:noFill/>
        </p:spPr>
        <p:txBody>
          <a:bodyPr wrap="square" lIns="0" tIns="0" rIns="0" bIns="0" anchor="ctr">
            <a:spAutoFit/>
          </a:bodyPr>
          <a:lstStyle/>
          <a:p>
            <a:pPr algn="l">
              <a:lnSpc>
                <a:spcPct val="100000"/>
              </a:lnSpc>
            </a:pPr>
            <a:r>
              <a:rPr sz="950" b="0" i="0">
                <a:solidFill>
                  <a:srgbClr val="FFFFFF"/>
                </a:solidFill>
                <a:latin typeface="Calibri"/>
              </a:rPr>
              <a:t>target схема празна</a:t>
            </a:r>
          </a:p>
        </p:txBody>
      </p:sp>
      <p:sp>
        <p:nvSpPr>
          <p:cNvPr id="20" name="Rounded Rectangle 19"/>
          <p:cNvSpPr/>
          <p:nvPr/>
        </p:nvSpPr>
        <p:spPr>
          <a:xfrm>
            <a:off x="640080" y="2423160"/>
            <a:ext cx="10881360" cy="1234440"/>
          </a:xfrm>
          <a:prstGeom prst="roundRect">
            <a:avLst>
              <a:gd name="adj" fmla="val 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2532888"/>
            <a:ext cx="548640" cy="548640"/>
          </a:xfrm>
          <a:prstGeom prst="rect">
            <a:avLst/>
          </a:prstGeom>
          <a:noFill/>
        </p:spPr>
        <p:txBody>
          <a:bodyPr wrap="square" lIns="0" tIns="0" rIns="0" bIns="0" anchor="t">
            <a:spAutoFit/>
          </a:bodyPr>
          <a:lstStyle/>
          <a:p>
            <a:pPr algn="l"/>
            <a:r>
              <a:rPr sz="2200" b="1" i="0">
                <a:solidFill>
                  <a:srgbClr val="3DDC97"/>
                </a:solidFill>
                <a:latin typeface="Calibri"/>
              </a:rPr>
              <a:t>1</a:t>
            </a:r>
          </a:p>
        </p:txBody>
      </p:sp>
      <p:sp>
        <p:nvSpPr>
          <p:cNvPr id="22" name="TextBox 21"/>
          <p:cNvSpPr txBox="1"/>
          <p:nvPr/>
        </p:nvSpPr>
        <p:spPr>
          <a:xfrm>
            <a:off x="1463040" y="2514600"/>
            <a:ext cx="9692640" cy="365760"/>
          </a:xfrm>
          <a:prstGeom prst="rect">
            <a:avLst/>
          </a:prstGeom>
          <a:noFill/>
        </p:spPr>
        <p:txBody>
          <a:bodyPr wrap="square" lIns="0" tIns="0" rIns="0" bIns="0" anchor="t">
            <a:spAutoFit/>
          </a:bodyPr>
          <a:lstStyle/>
          <a:p>
            <a:pPr algn="l"/>
            <a:r>
              <a:rPr sz="1450" b="1" i="0">
                <a:solidFill>
                  <a:srgbClr val="FFFFFF"/>
                </a:solidFill>
                <a:latin typeface="Courier New"/>
              </a:rPr>
              <a:t>DAGBuilder.buildDependencyGraph(model)</a:t>
            </a:r>
          </a:p>
        </p:txBody>
      </p:sp>
      <p:sp>
        <p:nvSpPr>
          <p:cNvPr id="23" name="TextBox 22"/>
          <p:cNvSpPr txBox="1"/>
          <p:nvPr/>
        </p:nvSpPr>
        <p:spPr>
          <a:xfrm>
            <a:off x="1463040" y="2898648"/>
            <a:ext cx="9784080" cy="365760"/>
          </a:xfrm>
          <a:prstGeom prst="rect">
            <a:avLst/>
          </a:prstGeom>
          <a:noFill/>
        </p:spPr>
        <p:txBody>
          <a:bodyPr wrap="square" lIns="0" tIns="0" rIns="0" bIns="0" anchor="t">
            <a:spAutoFit/>
          </a:bodyPr>
          <a:lstStyle/>
          <a:p>
            <a:pPr algn="l"/>
            <a:r>
              <a:rPr sz="1150" b="0" i="0" dirty="0">
                <a:solidFill>
                  <a:srgbClr val="CADCFC"/>
                </a:solidFill>
                <a:latin typeface="Calibri"/>
              </a:rPr>
              <a:t>Map&lt;</a:t>
            </a:r>
            <a:r>
              <a:rPr sz="1150" b="0" i="0" dirty="0" err="1">
                <a:solidFill>
                  <a:srgbClr val="CADCFC"/>
                </a:solidFill>
                <a:latin typeface="Calibri"/>
              </a:rPr>
              <a:t>tableName</a:t>
            </a:r>
            <a:r>
              <a:rPr sz="1150" b="0" i="0" dirty="0">
                <a:solidFill>
                  <a:srgbClr val="CADCFC"/>
                </a:solidFill>
                <a:latin typeface="Calibri"/>
              </a:rPr>
              <a:t>, Set&lt;</a:t>
            </a:r>
            <a:r>
              <a:rPr sz="1150" b="0" i="0" dirty="0" err="1">
                <a:solidFill>
                  <a:srgbClr val="CADCFC"/>
                </a:solidFill>
                <a:latin typeface="Calibri"/>
              </a:rPr>
              <a:t>dependsOnTable</a:t>
            </a:r>
            <a:r>
              <a:rPr sz="1150" b="0" i="0" dirty="0">
                <a:solidFill>
                  <a:srgbClr val="CADCFC"/>
                </a:solidFill>
                <a:latin typeface="Calibri"/>
              </a:rPr>
              <a:t>&gt;&gt;  ·  </a:t>
            </a:r>
            <a:r>
              <a:rPr sz="1150" b="0" i="0" dirty="0" err="1">
                <a:solidFill>
                  <a:srgbClr val="CADCFC"/>
                </a:solidFill>
                <a:latin typeface="Calibri"/>
              </a:rPr>
              <a:t>Дъщерната</a:t>
            </a:r>
            <a:r>
              <a:rPr sz="1150" b="0" i="0" dirty="0">
                <a:solidFill>
                  <a:srgbClr val="CADCFC"/>
                </a:solidFill>
                <a:latin typeface="Calibri"/>
              </a:rPr>
              <a:t> </a:t>
            </a:r>
            <a:r>
              <a:rPr sz="1150" b="0" i="0" dirty="0" err="1">
                <a:solidFill>
                  <a:srgbClr val="CADCFC"/>
                </a:solidFill>
                <a:latin typeface="Calibri"/>
              </a:rPr>
              <a:t>таблица</a:t>
            </a:r>
            <a:r>
              <a:rPr sz="1150" b="0" i="0" dirty="0">
                <a:solidFill>
                  <a:srgbClr val="CADCFC"/>
                </a:solidFill>
                <a:latin typeface="Calibri"/>
              </a:rPr>
              <a:t> </a:t>
            </a:r>
            <a:r>
              <a:rPr sz="1150" b="0" i="0" dirty="0" err="1">
                <a:solidFill>
                  <a:srgbClr val="CADCFC"/>
                </a:solidFill>
                <a:latin typeface="Calibri"/>
              </a:rPr>
              <a:t>зависи</a:t>
            </a:r>
            <a:r>
              <a:rPr sz="1150" b="0" i="0" dirty="0">
                <a:solidFill>
                  <a:srgbClr val="CADCFC"/>
                </a:solidFill>
                <a:latin typeface="Calibri"/>
              </a:rPr>
              <a:t> от </a:t>
            </a:r>
            <a:r>
              <a:rPr sz="1150" b="0" i="0" dirty="0" err="1">
                <a:solidFill>
                  <a:srgbClr val="CADCFC"/>
                </a:solidFill>
                <a:latin typeface="Calibri"/>
              </a:rPr>
              <a:t>родителската</a:t>
            </a:r>
            <a:r>
              <a:rPr sz="1150" b="0" i="0" dirty="0">
                <a:solidFill>
                  <a:srgbClr val="CADCFC"/>
                </a:solidFill>
                <a:latin typeface="Calibri"/>
              </a:rPr>
              <a:t> (foreign key child се </a:t>
            </a:r>
            <a:r>
              <a:rPr sz="1150" b="0" i="0" dirty="0" err="1">
                <a:solidFill>
                  <a:srgbClr val="CADCFC"/>
                </a:solidFill>
                <a:latin typeface="Calibri"/>
              </a:rPr>
              <a:t>създава</a:t>
            </a:r>
            <a:r>
              <a:rPr sz="1150" b="0" i="0" dirty="0">
                <a:solidFill>
                  <a:srgbClr val="CADCFC"/>
                </a:solidFill>
                <a:latin typeface="Calibri"/>
              </a:rPr>
              <a:t> </a:t>
            </a:r>
            <a:r>
              <a:rPr sz="1150" b="0" i="0" dirty="0" err="1">
                <a:solidFill>
                  <a:srgbClr val="CADCFC"/>
                </a:solidFill>
                <a:latin typeface="Calibri"/>
              </a:rPr>
              <a:t>СЛЕД</a:t>
            </a:r>
            <a:r>
              <a:rPr sz="1150" b="0" i="0" dirty="0">
                <a:solidFill>
                  <a:srgbClr val="CADCFC"/>
                </a:solidFill>
                <a:latin typeface="Calibri"/>
              </a:rPr>
              <a:t> parent)</a:t>
            </a:r>
          </a:p>
        </p:txBody>
      </p:sp>
      <p:sp>
        <p:nvSpPr>
          <p:cNvPr id="24" name="TextBox 23"/>
          <p:cNvSpPr txBox="1"/>
          <p:nvPr/>
        </p:nvSpPr>
        <p:spPr>
          <a:xfrm>
            <a:off x="1463040" y="3264408"/>
            <a:ext cx="9784080" cy="169277"/>
          </a:xfrm>
          <a:prstGeom prst="rect">
            <a:avLst/>
          </a:prstGeom>
          <a:noFill/>
        </p:spPr>
        <p:txBody>
          <a:bodyPr wrap="square" lIns="0" tIns="0" rIns="0" bIns="0" anchor="t">
            <a:spAutoFit/>
          </a:bodyPr>
          <a:lstStyle/>
          <a:p>
            <a:pPr algn="l"/>
            <a:r>
              <a:rPr sz="1100" b="0" i="0" dirty="0">
                <a:solidFill>
                  <a:srgbClr val="9AABE0"/>
                </a:solidFill>
                <a:latin typeface="Calibri"/>
              </a:rPr>
              <a:t>Cycle check: DFS с recursion-stack → </a:t>
            </a:r>
            <a:r>
              <a:rPr sz="1100" b="0" i="0" dirty="0" err="1">
                <a:solidFill>
                  <a:srgbClr val="9AABE0"/>
                </a:solidFill>
                <a:latin typeface="Calibri"/>
              </a:rPr>
              <a:t>hasNoCycles</a:t>
            </a:r>
            <a:r>
              <a:rPr sz="1100" b="0" i="0" dirty="0">
                <a:solidFill>
                  <a:srgbClr val="9AABE0"/>
                </a:solidFill>
                <a:latin typeface="Calibri"/>
              </a:rPr>
              <a:t>() </a:t>
            </a:r>
            <a:r>
              <a:rPr sz="1100" b="0" i="0" dirty="0" err="1">
                <a:solidFill>
                  <a:srgbClr val="9AABE0"/>
                </a:solidFill>
                <a:latin typeface="Calibri"/>
              </a:rPr>
              <a:t>отхвърля</a:t>
            </a:r>
            <a:r>
              <a:rPr sz="1100" b="0" i="0" dirty="0">
                <a:solidFill>
                  <a:srgbClr val="9AABE0"/>
                </a:solidFill>
                <a:latin typeface="Calibri"/>
              </a:rPr>
              <a:t> </a:t>
            </a:r>
            <a:r>
              <a:rPr sz="1100" b="0" i="0" dirty="0" err="1">
                <a:solidFill>
                  <a:srgbClr val="9AABE0"/>
                </a:solidFill>
                <a:latin typeface="Calibri"/>
              </a:rPr>
              <a:t>циклични</a:t>
            </a:r>
            <a:r>
              <a:rPr sz="1100" b="0" i="0" dirty="0">
                <a:solidFill>
                  <a:srgbClr val="9AABE0"/>
                </a:solidFill>
                <a:latin typeface="Calibri"/>
              </a:rPr>
              <a:t> </a:t>
            </a:r>
            <a:r>
              <a:rPr sz="1100" b="0" i="0" dirty="0" err="1">
                <a:solidFill>
                  <a:srgbClr val="9AABE0"/>
                </a:solidFill>
                <a:latin typeface="Calibri"/>
              </a:rPr>
              <a:t>графи</a:t>
            </a:r>
            <a:r>
              <a:rPr sz="1100" b="0" i="0" dirty="0">
                <a:solidFill>
                  <a:srgbClr val="9AABE0"/>
                </a:solidFill>
                <a:latin typeface="Calibri"/>
              </a:rPr>
              <a:t> преди </a:t>
            </a:r>
            <a:r>
              <a:rPr sz="1100" b="0" i="0" dirty="0" err="1">
                <a:solidFill>
                  <a:srgbClr val="9AABE0"/>
                </a:solidFill>
                <a:latin typeface="Calibri"/>
              </a:rPr>
              <a:t>изпълнение</a:t>
            </a:r>
            <a:endParaRPr sz="1100" b="0" i="0" dirty="0">
              <a:solidFill>
                <a:srgbClr val="9AABE0"/>
              </a:solidFill>
              <a:latin typeface="Calibri"/>
            </a:endParaRPr>
          </a:p>
        </p:txBody>
      </p:sp>
      <p:sp>
        <p:nvSpPr>
          <p:cNvPr id="25" name="Rounded Rectangle 24"/>
          <p:cNvSpPr/>
          <p:nvPr/>
        </p:nvSpPr>
        <p:spPr>
          <a:xfrm>
            <a:off x="640080" y="3822191"/>
            <a:ext cx="10881360" cy="2852928"/>
          </a:xfrm>
          <a:prstGeom prst="roundRect">
            <a:avLst>
              <a:gd name="adj" fmla="val 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3931920"/>
            <a:ext cx="548640" cy="548640"/>
          </a:xfrm>
          <a:prstGeom prst="rect">
            <a:avLst/>
          </a:prstGeom>
          <a:noFill/>
        </p:spPr>
        <p:txBody>
          <a:bodyPr wrap="square" lIns="0" tIns="0" rIns="0" bIns="0" anchor="t">
            <a:spAutoFit/>
          </a:bodyPr>
          <a:lstStyle/>
          <a:p>
            <a:pPr algn="l"/>
            <a:r>
              <a:rPr sz="2200" b="1" i="0">
                <a:solidFill>
                  <a:srgbClr val="3DDC97"/>
                </a:solidFill>
                <a:latin typeface="Calibri"/>
              </a:rPr>
              <a:t>2</a:t>
            </a:r>
          </a:p>
        </p:txBody>
      </p:sp>
      <p:sp>
        <p:nvSpPr>
          <p:cNvPr id="27" name="TextBox 26"/>
          <p:cNvSpPr txBox="1"/>
          <p:nvPr/>
        </p:nvSpPr>
        <p:spPr>
          <a:xfrm>
            <a:off x="1463040" y="3913631"/>
            <a:ext cx="9692640" cy="365760"/>
          </a:xfrm>
          <a:prstGeom prst="rect">
            <a:avLst/>
          </a:prstGeom>
          <a:noFill/>
        </p:spPr>
        <p:txBody>
          <a:bodyPr wrap="square" lIns="0" tIns="0" rIns="0" bIns="0" anchor="t">
            <a:spAutoFit/>
          </a:bodyPr>
          <a:lstStyle/>
          <a:p>
            <a:pPr algn="l"/>
            <a:r>
              <a:rPr sz="1450" b="1" i="0">
                <a:solidFill>
                  <a:srgbClr val="FFFFFF"/>
                </a:solidFill>
                <a:latin typeface="Courier New"/>
              </a:rPr>
              <a:t>TaskScheduler.computeExecutionBatches()</a:t>
            </a:r>
          </a:p>
        </p:txBody>
      </p:sp>
      <p:sp>
        <p:nvSpPr>
          <p:cNvPr id="28" name="TextBox 27"/>
          <p:cNvSpPr txBox="1"/>
          <p:nvPr/>
        </p:nvSpPr>
        <p:spPr>
          <a:xfrm>
            <a:off x="1463040" y="4279392"/>
            <a:ext cx="9692640" cy="320040"/>
          </a:xfrm>
          <a:prstGeom prst="rect">
            <a:avLst/>
          </a:prstGeom>
          <a:noFill/>
        </p:spPr>
        <p:txBody>
          <a:bodyPr wrap="square" lIns="0" tIns="0" rIns="0" bIns="0" anchor="t">
            <a:spAutoFit/>
          </a:bodyPr>
          <a:lstStyle/>
          <a:p>
            <a:pPr algn="l"/>
            <a:r>
              <a:rPr sz="1200" b="0" i="0">
                <a:solidFill>
                  <a:srgbClr val="CADCFC"/>
                </a:solidFill>
                <a:latin typeface="Calibri"/>
              </a:rPr>
              <a:t>Kahn's алгоритъм (batch вариант на topological sort):</a:t>
            </a:r>
          </a:p>
        </p:txBody>
      </p:sp>
      <p:sp>
        <p:nvSpPr>
          <p:cNvPr id="29" name="TextBox 28"/>
          <p:cNvSpPr txBox="1"/>
          <p:nvPr/>
        </p:nvSpPr>
        <p:spPr>
          <a:xfrm>
            <a:off x="1463040" y="4663440"/>
            <a:ext cx="365760" cy="292608"/>
          </a:xfrm>
          <a:prstGeom prst="rect">
            <a:avLst/>
          </a:prstGeom>
          <a:noFill/>
        </p:spPr>
        <p:txBody>
          <a:bodyPr wrap="square" lIns="0" tIns="0" rIns="0" bIns="0" anchor="t">
            <a:spAutoFit/>
          </a:bodyPr>
          <a:lstStyle/>
          <a:p>
            <a:pPr algn="l"/>
            <a:r>
              <a:rPr sz="1150" b="1" i="0">
                <a:solidFill>
                  <a:srgbClr val="3DDC97"/>
                </a:solidFill>
                <a:latin typeface="Calibri"/>
              </a:rPr>
              <a:t>1.</a:t>
            </a:r>
          </a:p>
        </p:txBody>
      </p:sp>
      <p:sp>
        <p:nvSpPr>
          <p:cNvPr id="30" name="TextBox 29"/>
          <p:cNvSpPr txBox="1"/>
          <p:nvPr/>
        </p:nvSpPr>
        <p:spPr>
          <a:xfrm>
            <a:off x="1828800" y="4663440"/>
            <a:ext cx="8961120" cy="292608"/>
          </a:xfrm>
          <a:prstGeom prst="rect">
            <a:avLst/>
          </a:prstGeom>
          <a:noFill/>
        </p:spPr>
        <p:txBody>
          <a:bodyPr wrap="square" lIns="0" tIns="0" rIns="0" bIns="0" anchor="t">
            <a:spAutoFit/>
          </a:bodyPr>
          <a:lstStyle/>
          <a:p>
            <a:pPr algn="l"/>
            <a:r>
              <a:rPr sz="1150" b="0" i="0">
                <a:solidFill>
                  <a:srgbClr val="FFFFFF"/>
                </a:solidFill>
                <a:latin typeface="Calibri"/>
              </a:rPr>
              <a:t>batch 0 = задачи с 0 оставащи зависимости</a:t>
            </a:r>
          </a:p>
        </p:txBody>
      </p:sp>
      <p:sp>
        <p:nvSpPr>
          <p:cNvPr id="31" name="TextBox 30"/>
          <p:cNvSpPr txBox="1"/>
          <p:nvPr/>
        </p:nvSpPr>
        <p:spPr>
          <a:xfrm>
            <a:off x="1463040" y="4992624"/>
            <a:ext cx="365760" cy="292608"/>
          </a:xfrm>
          <a:prstGeom prst="rect">
            <a:avLst/>
          </a:prstGeom>
          <a:noFill/>
        </p:spPr>
        <p:txBody>
          <a:bodyPr wrap="square" lIns="0" tIns="0" rIns="0" bIns="0" anchor="t">
            <a:spAutoFit/>
          </a:bodyPr>
          <a:lstStyle/>
          <a:p>
            <a:pPr algn="l"/>
            <a:r>
              <a:rPr sz="1150" b="1" i="0">
                <a:solidFill>
                  <a:srgbClr val="3DDC97"/>
                </a:solidFill>
                <a:latin typeface="Calibri"/>
              </a:rPr>
              <a:t>2.</a:t>
            </a:r>
          </a:p>
        </p:txBody>
      </p:sp>
      <p:sp>
        <p:nvSpPr>
          <p:cNvPr id="32" name="TextBox 31"/>
          <p:cNvSpPr txBox="1"/>
          <p:nvPr/>
        </p:nvSpPr>
        <p:spPr>
          <a:xfrm>
            <a:off x="1828800" y="4992624"/>
            <a:ext cx="8961120" cy="292608"/>
          </a:xfrm>
          <a:prstGeom prst="rect">
            <a:avLst/>
          </a:prstGeom>
          <a:noFill/>
        </p:spPr>
        <p:txBody>
          <a:bodyPr wrap="square" lIns="0" tIns="0" rIns="0" bIns="0" anchor="t">
            <a:spAutoFit/>
          </a:bodyPr>
          <a:lstStyle/>
          <a:p>
            <a:pPr algn="l"/>
            <a:r>
              <a:rPr sz="1150" b="0" i="0">
                <a:solidFill>
                  <a:srgbClr val="FFFFFF"/>
                </a:solidFill>
                <a:latin typeface="Calibri"/>
              </a:rPr>
              <a:t>премахват се; намалява се броят на зависимостите при свързаните задачи</a:t>
            </a:r>
          </a:p>
        </p:txBody>
      </p:sp>
      <p:sp>
        <p:nvSpPr>
          <p:cNvPr id="33" name="TextBox 32"/>
          <p:cNvSpPr txBox="1"/>
          <p:nvPr/>
        </p:nvSpPr>
        <p:spPr>
          <a:xfrm>
            <a:off x="1463040" y="5321808"/>
            <a:ext cx="365760" cy="292608"/>
          </a:xfrm>
          <a:prstGeom prst="rect">
            <a:avLst/>
          </a:prstGeom>
          <a:noFill/>
        </p:spPr>
        <p:txBody>
          <a:bodyPr wrap="square" lIns="0" tIns="0" rIns="0" bIns="0" anchor="t">
            <a:spAutoFit/>
          </a:bodyPr>
          <a:lstStyle/>
          <a:p>
            <a:pPr algn="l"/>
            <a:r>
              <a:rPr sz="1150" b="1" i="0">
                <a:solidFill>
                  <a:srgbClr val="3DDC97"/>
                </a:solidFill>
                <a:latin typeface="Calibri"/>
              </a:rPr>
              <a:t>3.</a:t>
            </a:r>
          </a:p>
        </p:txBody>
      </p:sp>
      <p:sp>
        <p:nvSpPr>
          <p:cNvPr id="34" name="TextBox 33"/>
          <p:cNvSpPr txBox="1"/>
          <p:nvPr/>
        </p:nvSpPr>
        <p:spPr>
          <a:xfrm>
            <a:off x="1828800" y="5321808"/>
            <a:ext cx="8961120" cy="292608"/>
          </a:xfrm>
          <a:prstGeom prst="rect">
            <a:avLst/>
          </a:prstGeom>
          <a:noFill/>
        </p:spPr>
        <p:txBody>
          <a:bodyPr wrap="square" lIns="0" tIns="0" rIns="0" bIns="0" anchor="t">
            <a:spAutoFit/>
          </a:bodyPr>
          <a:lstStyle/>
          <a:p>
            <a:pPr algn="l"/>
            <a:r>
              <a:rPr sz="1150" b="0" i="0">
                <a:solidFill>
                  <a:srgbClr val="FFFFFF"/>
                </a:solidFill>
                <a:latin typeface="Calibri"/>
              </a:rPr>
              <a:t>следващ batch = задачите с вече нулирани зависимости</a:t>
            </a:r>
          </a:p>
        </p:txBody>
      </p:sp>
      <p:sp>
        <p:nvSpPr>
          <p:cNvPr id="35" name="TextBox 34"/>
          <p:cNvSpPr txBox="1"/>
          <p:nvPr/>
        </p:nvSpPr>
        <p:spPr>
          <a:xfrm>
            <a:off x="1463040" y="5650992"/>
            <a:ext cx="365760" cy="292608"/>
          </a:xfrm>
          <a:prstGeom prst="rect">
            <a:avLst/>
          </a:prstGeom>
          <a:noFill/>
        </p:spPr>
        <p:txBody>
          <a:bodyPr wrap="square" lIns="0" tIns="0" rIns="0" bIns="0" anchor="t">
            <a:spAutoFit/>
          </a:bodyPr>
          <a:lstStyle/>
          <a:p>
            <a:pPr algn="l"/>
            <a:r>
              <a:rPr sz="1150" b="1" i="0">
                <a:solidFill>
                  <a:srgbClr val="3DDC97"/>
                </a:solidFill>
                <a:latin typeface="Calibri"/>
              </a:rPr>
              <a:t>4.</a:t>
            </a:r>
          </a:p>
        </p:txBody>
      </p:sp>
      <p:sp>
        <p:nvSpPr>
          <p:cNvPr id="36" name="TextBox 35"/>
          <p:cNvSpPr txBox="1"/>
          <p:nvPr/>
        </p:nvSpPr>
        <p:spPr>
          <a:xfrm>
            <a:off x="1828800" y="5650992"/>
            <a:ext cx="8961120" cy="292608"/>
          </a:xfrm>
          <a:prstGeom prst="rect">
            <a:avLst/>
          </a:prstGeom>
          <a:noFill/>
        </p:spPr>
        <p:txBody>
          <a:bodyPr wrap="square" lIns="0" tIns="0" rIns="0" bIns="0" anchor="t">
            <a:spAutoFit/>
          </a:bodyPr>
          <a:lstStyle/>
          <a:p>
            <a:pPr algn="l"/>
            <a:r>
              <a:rPr sz="1150" b="0" i="0">
                <a:solidFill>
                  <a:srgbClr val="FFFFFF"/>
                </a:solidFill>
                <a:latin typeface="Calibri"/>
              </a:rPr>
              <a:t>повтаря се, докато всички задачи бъдат планирани</a:t>
            </a:r>
          </a:p>
        </p:txBody>
      </p:sp>
      <p:sp>
        <p:nvSpPr>
          <p:cNvPr id="37" name="Rounded Rectangle 36"/>
          <p:cNvSpPr/>
          <p:nvPr/>
        </p:nvSpPr>
        <p:spPr>
          <a:xfrm>
            <a:off x="1463040" y="6053328"/>
            <a:ext cx="9509760" cy="45720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645920" y="6053328"/>
            <a:ext cx="9144000" cy="457200"/>
          </a:xfrm>
          <a:prstGeom prst="rect">
            <a:avLst/>
          </a:prstGeom>
          <a:noFill/>
        </p:spPr>
        <p:txBody>
          <a:bodyPr wrap="square" lIns="0" tIns="0" rIns="0" bIns="0" anchor="ctr">
            <a:spAutoFit/>
          </a:bodyPr>
          <a:lstStyle/>
          <a:p>
            <a:pPr algn="l"/>
            <a:r>
              <a:rPr sz="1050" b="0" i="1">
                <a:solidFill>
                  <a:srgbClr val="3DDC97"/>
                </a:solidFill>
                <a:latin typeface="Calibri"/>
              </a:rPr>
              <a:t>Резултат: Deque&lt;List&lt;Task&gt;&gt; — всеки списък е batch, в който задачите са гарантирано независими и безопасни за паралелно изпълнение</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640080"/>
          </a:xfrm>
          <a:prstGeom prst="rect">
            <a:avLst/>
          </a:prstGeom>
          <a:noFill/>
        </p:spPr>
        <p:txBody>
          <a:bodyPr wrap="square" lIns="0" tIns="0" rIns="0" bIns="0" anchor="t">
            <a:spAutoFit/>
          </a:bodyPr>
          <a:lstStyle/>
          <a:p>
            <a:pPr algn="l"/>
            <a:r>
              <a:rPr sz="3000" b="1" i="0">
                <a:solidFill>
                  <a:srgbClr val="1B1F3B"/>
                </a:solidFill>
                <a:latin typeface="Calibri"/>
              </a:rPr>
              <a:t>Изпълнение на задачите</a:t>
            </a:r>
          </a:p>
        </p:txBody>
      </p:sp>
      <p:sp>
        <p:nvSpPr>
          <p:cNvPr id="3" name="TextBox 2"/>
          <p:cNvSpPr txBox="1"/>
          <p:nvPr/>
        </p:nvSpPr>
        <p:spPr>
          <a:xfrm>
            <a:off x="640080" y="1051560"/>
            <a:ext cx="10881360" cy="215444"/>
          </a:xfrm>
          <a:prstGeom prst="rect">
            <a:avLst/>
          </a:prstGeom>
          <a:noFill/>
        </p:spPr>
        <p:txBody>
          <a:bodyPr wrap="square" lIns="0" tIns="0" rIns="0" bIns="0" anchor="t">
            <a:spAutoFit/>
          </a:bodyPr>
          <a:lstStyle/>
          <a:p>
            <a:pPr algn="l"/>
            <a:r>
              <a:rPr sz="1400" b="0" i="0" dirty="0" err="1">
                <a:solidFill>
                  <a:srgbClr val="5B6485"/>
                </a:solidFill>
                <a:latin typeface="Calibri"/>
              </a:rPr>
              <a:t>какво</a:t>
            </a:r>
            <a:r>
              <a:rPr sz="1400" b="0" i="0" dirty="0">
                <a:solidFill>
                  <a:srgbClr val="5B6485"/>
                </a:solidFill>
                <a:latin typeface="Calibri"/>
              </a:rPr>
              <a:t> се </a:t>
            </a:r>
            <a:r>
              <a:rPr sz="1400" b="0" i="0" dirty="0" err="1">
                <a:solidFill>
                  <a:srgbClr val="5B6485"/>
                </a:solidFill>
                <a:latin typeface="Calibri"/>
              </a:rPr>
              <a:t>случва</a:t>
            </a:r>
            <a:r>
              <a:rPr sz="1400" b="0" i="0" dirty="0">
                <a:solidFill>
                  <a:srgbClr val="5B6485"/>
                </a:solidFill>
                <a:latin typeface="Calibri"/>
              </a:rPr>
              <a:t> за </a:t>
            </a:r>
            <a:r>
              <a:rPr sz="1400" b="0" i="0" dirty="0" err="1">
                <a:solidFill>
                  <a:srgbClr val="5B6485"/>
                </a:solidFill>
                <a:latin typeface="Calibri"/>
              </a:rPr>
              <a:t>всяка</a:t>
            </a:r>
            <a:r>
              <a:rPr sz="1400" b="0" i="0" dirty="0">
                <a:solidFill>
                  <a:srgbClr val="5B6485"/>
                </a:solidFill>
                <a:latin typeface="Calibri"/>
              </a:rPr>
              <a:t> </a:t>
            </a:r>
            <a:r>
              <a:rPr sz="1400" b="0" i="0" dirty="0" err="1">
                <a:solidFill>
                  <a:srgbClr val="5B6485"/>
                </a:solidFill>
                <a:latin typeface="Calibri"/>
              </a:rPr>
              <a:t>таблица</a:t>
            </a:r>
            <a:r>
              <a:rPr sz="1400" b="0" i="0" dirty="0">
                <a:solidFill>
                  <a:srgbClr val="5B6485"/>
                </a:solidFill>
                <a:latin typeface="Calibri"/>
              </a:rPr>
              <a:t> в TaskExecutor</a:t>
            </a:r>
          </a:p>
        </p:txBody>
      </p:sp>
      <p:sp>
        <p:nvSpPr>
          <p:cNvPr id="4" name="Rounded Rectangle 3"/>
          <p:cNvSpPr/>
          <p:nvPr/>
        </p:nvSpPr>
        <p:spPr>
          <a:xfrm>
            <a:off x="64008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934059" y="1985619"/>
            <a:ext cx="372160" cy="372160"/>
          </a:xfrm>
          <a:prstGeom prst="rect">
            <a:avLst/>
          </a:prstGeom>
        </p:spPr>
      </p:pic>
      <p:sp>
        <p:nvSpPr>
          <p:cNvPr id="7" name="TextBox 6"/>
          <p:cNvSpPr txBox="1"/>
          <p:nvPr/>
        </p:nvSpPr>
        <p:spPr>
          <a:xfrm>
            <a:off x="86868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1. Старт (RUNNING)</a:t>
            </a:r>
          </a:p>
        </p:txBody>
      </p:sp>
      <p:sp>
        <p:nvSpPr>
          <p:cNvPr id="8" name="TextBox 7"/>
          <p:cNvSpPr txBox="1"/>
          <p:nvPr/>
        </p:nvSpPr>
        <p:spPr>
          <a:xfrm>
            <a:off x="868680" y="3017520"/>
            <a:ext cx="2057400" cy="731520"/>
          </a:xfrm>
          <a:prstGeom prst="rect">
            <a:avLst/>
          </a:prstGeom>
          <a:noFill/>
        </p:spPr>
        <p:txBody>
          <a:bodyPr wrap="square" lIns="0" tIns="0" rIns="0" bIns="0" anchor="t">
            <a:spAutoFit/>
          </a:bodyPr>
          <a:lstStyle/>
          <a:p>
            <a:pPr algn="l">
              <a:lnSpc>
                <a:spcPct val="105000"/>
              </a:lnSpc>
            </a:pPr>
            <a:r>
              <a:rPr sz="930" b="0" i="0">
                <a:solidFill>
                  <a:srgbClr val="1B1F3B"/>
                </a:solidFill>
                <a:latin typeface="Calibri"/>
              </a:rPr>
              <a:t>Task → RUNNING, rowsProcessed = 0; отваря се ConnectionPair към source и target едновременно</a:t>
            </a:r>
          </a:p>
        </p:txBody>
      </p:sp>
      <p:sp>
        <p:nvSpPr>
          <p:cNvPr id="9" name="Rounded Rectangle 8"/>
          <p:cNvSpPr/>
          <p:nvPr/>
        </p:nvSpPr>
        <p:spPr>
          <a:xfrm>
            <a:off x="342900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60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3722979" y="1985619"/>
            <a:ext cx="372160" cy="372160"/>
          </a:xfrm>
          <a:prstGeom prst="rect">
            <a:avLst/>
          </a:prstGeom>
        </p:spPr>
      </p:pic>
      <p:sp>
        <p:nvSpPr>
          <p:cNvPr id="12" name="TextBox 11"/>
          <p:cNvSpPr txBox="1"/>
          <p:nvPr/>
        </p:nvSpPr>
        <p:spPr>
          <a:xfrm>
            <a:off x="365760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2. CREATE TABLE</a:t>
            </a:r>
          </a:p>
        </p:txBody>
      </p:sp>
      <p:sp>
        <p:nvSpPr>
          <p:cNvPr id="13" name="TextBox 12"/>
          <p:cNvSpPr txBox="1"/>
          <p:nvPr/>
        </p:nvSpPr>
        <p:spPr>
          <a:xfrm>
            <a:off x="3657600" y="3017520"/>
            <a:ext cx="2057400" cy="731520"/>
          </a:xfrm>
          <a:prstGeom prst="rect">
            <a:avLst/>
          </a:prstGeom>
          <a:noFill/>
        </p:spPr>
        <p:txBody>
          <a:bodyPr wrap="square" lIns="0" tIns="0" rIns="0" bIns="0" anchor="t">
            <a:spAutoFit/>
          </a:bodyPr>
          <a:lstStyle/>
          <a:p>
            <a:pPr algn="l">
              <a:lnSpc>
                <a:spcPct val="105000"/>
              </a:lnSpc>
            </a:pPr>
            <a:r>
              <a:rPr sz="930" b="0" i="0">
                <a:solidFill>
                  <a:srgbClr val="1B1F3B"/>
                </a:solidFill>
                <a:latin typeface="Calibri"/>
              </a:rPr>
              <a:t>DDLGenerator генерира DDL с FK constraints; изпълнява се и веднага се прави commit</a:t>
            </a:r>
          </a:p>
        </p:txBody>
      </p:sp>
      <p:sp>
        <p:nvSpPr>
          <p:cNvPr id="14" name="Rounded Rectangle 13"/>
          <p:cNvSpPr/>
          <p:nvPr/>
        </p:nvSpPr>
        <p:spPr>
          <a:xfrm>
            <a:off x="6217920"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46520"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5"/>
          <a:stretch>
            <a:fillRect/>
          </a:stretch>
        </p:blipFill>
        <p:spPr>
          <a:xfrm>
            <a:off x="6511899" y="1985619"/>
            <a:ext cx="372160" cy="372160"/>
          </a:xfrm>
          <a:prstGeom prst="rect">
            <a:avLst/>
          </a:prstGeom>
        </p:spPr>
      </p:pic>
      <p:sp>
        <p:nvSpPr>
          <p:cNvPr id="17" name="TextBox 16"/>
          <p:cNvSpPr txBox="1"/>
          <p:nvPr/>
        </p:nvSpPr>
        <p:spPr>
          <a:xfrm>
            <a:off x="6446520"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3. Миграция на данни</a:t>
            </a:r>
          </a:p>
        </p:txBody>
      </p:sp>
      <p:sp>
        <p:nvSpPr>
          <p:cNvPr id="18" name="TextBox 17"/>
          <p:cNvSpPr txBox="1"/>
          <p:nvPr/>
        </p:nvSpPr>
        <p:spPr>
          <a:xfrm>
            <a:off x="6446520" y="3017520"/>
            <a:ext cx="2057400" cy="444802"/>
          </a:xfrm>
          <a:prstGeom prst="rect">
            <a:avLst/>
          </a:prstGeom>
          <a:noFill/>
        </p:spPr>
        <p:txBody>
          <a:bodyPr wrap="square" lIns="0" tIns="0" rIns="0" bIns="0" anchor="t">
            <a:spAutoFit/>
          </a:bodyPr>
          <a:lstStyle/>
          <a:p>
            <a:pPr algn="l">
              <a:lnSpc>
                <a:spcPct val="105000"/>
              </a:lnSpc>
            </a:pPr>
            <a:r>
              <a:rPr sz="930" b="0" i="0" dirty="0" err="1">
                <a:solidFill>
                  <a:srgbClr val="1B1F3B"/>
                </a:solidFill>
                <a:latin typeface="Calibri"/>
              </a:rPr>
              <a:t>DataMigrationService</a:t>
            </a:r>
            <a:r>
              <a:rPr sz="930" b="0" i="0" dirty="0">
                <a:solidFill>
                  <a:srgbClr val="1B1F3B"/>
                </a:solidFill>
                <a:latin typeface="Calibri"/>
              </a:rPr>
              <a:t> </a:t>
            </a:r>
            <a:r>
              <a:rPr sz="930" b="0" i="0" dirty="0" err="1">
                <a:solidFill>
                  <a:srgbClr val="1B1F3B"/>
                </a:solidFill>
                <a:latin typeface="Calibri"/>
              </a:rPr>
              <a:t>чете</a:t>
            </a:r>
            <a:r>
              <a:rPr sz="930" b="0" i="0" dirty="0">
                <a:solidFill>
                  <a:srgbClr val="1B1F3B"/>
                </a:solidFill>
                <a:latin typeface="Calibri"/>
              </a:rPr>
              <a:t> и </a:t>
            </a:r>
            <a:r>
              <a:rPr sz="930" b="0" i="0" dirty="0" err="1">
                <a:solidFill>
                  <a:srgbClr val="1B1F3B"/>
                </a:solidFill>
                <a:latin typeface="Calibri"/>
              </a:rPr>
              <a:t>пише</a:t>
            </a:r>
            <a:r>
              <a:rPr sz="930" b="0" i="0" dirty="0">
                <a:solidFill>
                  <a:srgbClr val="1B1F3B"/>
                </a:solidFill>
                <a:latin typeface="Calibri"/>
              </a:rPr>
              <a:t> </a:t>
            </a:r>
            <a:r>
              <a:rPr sz="930" b="0" i="0" dirty="0" err="1">
                <a:solidFill>
                  <a:srgbClr val="1B1F3B"/>
                </a:solidFill>
                <a:latin typeface="Calibri"/>
              </a:rPr>
              <a:t>на</a:t>
            </a:r>
            <a:r>
              <a:rPr sz="930" b="0" i="0" dirty="0">
                <a:solidFill>
                  <a:srgbClr val="1B1F3B"/>
                </a:solidFill>
                <a:latin typeface="Calibri"/>
              </a:rPr>
              <a:t> </a:t>
            </a:r>
            <a:r>
              <a:rPr sz="930" b="0" i="0" dirty="0" err="1">
                <a:solidFill>
                  <a:srgbClr val="1B1F3B"/>
                </a:solidFill>
                <a:latin typeface="Calibri"/>
              </a:rPr>
              <a:t>партиди</a:t>
            </a:r>
            <a:r>
              <a:rPr sz="930" b="0" i="0" dirty="0">
                <a:solidFill>
                  <a:srgbClr val="1B1F3B"/>
                </a:solidFill>
                <a:latin typeface="Calibri"/>
              </a:rPr>
              <a:t> от 1000 </a:t>
            </a:r>
            <a:r>
              <a:rPr sz="930" b="0" i="0" dirty="0" err="1">
                <a:solidFill>
                  <a:srgbClr val="1B1F3B"/>
                </a:solidFill>
                <a:latin typeface="Calibri"/>
              </a:rPr>
              <a:t>реда</a:t>
            </a:r>
            <a:endParaRPr lang="bg-BG" sz="930" dirty="0">
              <a:solidFill>
                <a:srgbClr val="1B1F3B"/>
              </a:solidFill>
              <a:latin typeface="Calibri"/>
            </a:endParaRPr>
          </a:p>
          <a:p>
            <a:pPr algn="l">
              <a:lnSpc>
                <a:spcPct val="105000"/>
              </a:lnSpc>
            </a:pPr>
            <a:endParaRPr sz="930" b="0" i="0" dirty="0">
              <a:solidFill>
                <a:srgbClr val="1B1F3B"/>
              </a:solidFill>
              <a:latin typeface="Calibri"/>
            </a:endParaRPr>
          </a:p>
        </p:txBody>
      </p:sp>
      <p:sp>
        <p:nvSpPr>
          <p:cNvPr id="19" name="Rounded Rectangle 18"/>
          <p:cNvSpPr/>
          <p:nvPr/>
        </p:nvSpPr>
        <p:spPr>
          <a:xfrm>
            <a:off x="9006839" y="1691640"/>
            <a:ext cx="2514600" cy="2103120"/>
          </a:xfrm>
          <a:prstGeom prst="roundRect">
            <a:avLst>
              <a:gd name="adj" fmla="val 8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35439" y="19202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mage.png"/>
          <p:cNvPicPr>
            <a:picLocks noChangeAspect="1"/>
          </p:cNvPicPr>
          <p:nvPr/>
        </p:nvPicPr>
        <p:blipFill>
          <a:blip r:embed="rId6"/>
          <a:stretch>
            <a:fillRect/>
          </a:stretch>
        </p:blipFill>
        <p:spPr>
          <a:xfrm>
            <a:off x="9300819" y="1985619"/>
            <a:ext cx="372160" cy="372160"/>
          </a:xfrm>
          <a:prstGeom prst="rect">
            <a:avLst/>
          </a:prstGeom>
        </p:spPr>
      </p:pic>
      <p:sp>
        <p:nvSpPr>
          <p:cNvPr id="22" name="TextBox 21"/>
          <p:cNvSpPr txBox="1"/>
          <p:nvPr/>
        </p:nvSpPr>
        <p:spPr>
          <a:xfrm>
            <a:off x="9235439" y="2560320"/>
            <a:ext cx="2057400" cy="457200"/>
          </a:xfrm>
          <a:prstGeom prst="rect">
            <a:avLst/>
          </a:prstGeom>
          <a:noFill/>
        </p:spPr>
        <p:txBody>
          <a:bodyPr wrap="square" lIns="0" tIns="0" rIns="0" bIns="0" anchor="t">
            <a:spAutoFit/>
          </a:bodyPr>
          <a:lstStyle/>
          <a:p>
            <a:pPr algn="l">
              <a:lnSpc>
                <a:spcPct val="100000"/>
              </a:lnSpc>
            </a:pPr>
            <a:r>
              <a:rPr sz="1300" b="1" i="0">
                <a:solidFill>
                  <a:srgbClr val="1E2761"/>
                </a:solidFill>
                <a:latin typeface="Calibri"/>
              </a:rPr>
              <a:t>4. Завършване</a:t>
            </a:r>
          </a:p>
        </p:txBody>
      </p:sp>
      <p:sp>
        <p:nvSpPr>
          <p:cNvPr id="23" name="TextBox 22"/>
          <p:cNvSpPr txBox="1"/>
          <p:nvPr/>
        </p:nvSpPr>
        <p:spPr>
          <a:xfrm>
            <a:off x="9235439" y="3017520"/>
            <a:ext cx="2057400" cy="731520"/>
          </a:xfrm>
          <a:prstGeom prst="rect">
            <a:avLst/>
          </a:prstGeom>
          <a:noFill/>
        </p:spPr>
        <p:txBody>
          <a:bodyPr wrap="square" lIns="0" tIns="0" rIns="0" bIns="0" anchor="t">
            <a:spAutoFit/>
          </a:bodyPr>
          <a:lstStyle/>
          <a:p>
            <a:pPr algn="l">
              <a:lnSpc>
                <a:spcPct val="105000"/>
              </a:lnSpc>
            </a:pPr>
            <a:r>
              <a:rPr sz="930" b="0" i="0">
                <a:solidFill>
                  <a:srgbClr val="1B1F3B"/>
                </a:solidFill>
                <a:latin typeface="Calibri"/>
              </a:rPr>
              <a:t>Статус COMPLETED/FAILED; всяка стъпка се записва в TaskLog (INFO/ERROR) за мониторинг</a:t>
            </a:r>
          </a:p>
        </p:txBody>
      </p:sp>
      <p:sp>
        <p:nvSpPr>
          <p:cNvPr id="24" name="Rounded Rectangle 23"/>
          <p:cNvSpPr/>
          <p:nvPr/>
        </p:nvSpPr>
        <p:spPr>
          <a:xfrm>
            <a:off x="640080" y="3977639"/>
            <a:ext cx="5257800" cy="21488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68680" y="4233672"/>
            <a:ext cx="502920" cy="50292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png"/>
          <p:cNvPicPr>
            <a:picLocks noChangeAspect="1"/>
          </p:cNvPicPr>
          <p:nvPr/>
        </p:nvPicPr>
        <p:blipFill>
          <a:blip r:embed="rId7"/>
          <a:stretch>
            <a:fillRect/>
          </a:stretch>
        </p:blipFill>
        <p:spPr>
          <a:xfrm>
            <a:off x="934059" y="4299051"/>
            <a:ext cx="372160" cy="372160"/>
          </a:xfrm>
          <a:prstGeom prst="rect">
            <a:avLst/>
          </a:prstGeom>
        </p:spPr>
      </p:pic>
      <p:sp>
        <p:nvSpPr>
          <p:cNvPr id="27" name="TextBox 26"/>
          <p:cNvSpPr txBox="1"/>
          <p:nvPr/>
        </p:nvSpPr>
        <p:spPr>
          <a:xfrm>
            <a:off x="1508760" y="4270248"/>
            <a:ext cx="4343400" cy="457200"/>
          </a:xfrm>
          <a:prstGeom prst="rect">
            <a:avLst/>
          </a:prstGeom>
          <a:noFill/>
        </p:spPr>
        <p:txBody>
          <a:bodyPr wrap="square" lIns="0" tIns="0" rIns="0" bIns="0" anchor="t">
            <a:spAutoFit/>
          </a:bodyPr>
          <a:lstStyle/>
          <a:p>
            <a:pPr algn="l"/>
            <a:r>
              <a:rPr sz="1450" b="1" i="0">
                <a:solidFill>
                  <a:srgbClr val="FFFFFF"/>
                </a:solidFill>
                <a:latin typeface="Calibri"/>
              </a:rPr>
              <a:t>MSSQL: последователно изпълнение</a:t>
            </a:r>
          </a:p>
        </p:txBody>
      </p:sp>
      <p:sp>
        <p:nvSpPr>
          <p:cNvPr id="28" name="TextBox 27"/>
          <p:cNvSpPr txBox="1"/>
          <p:nvPr/>
        </p:nvSpPr>
        <p:spPr>
          <a:xfrm>
            <a:off x="868680" y="4846320"/>
            <a:ext cx="4800600" cy="1188720"/>
          </a:xfrm>
          <a:prstGeom prst="rect">
            <a:avLst/>
          </a:prstGeom>
          <a:noFill/>
        </p:spPr>
        <p:txBody>
          <a:bodyPr wrap="square" lIns="0" tIns="0" rIns="0" bIns="0" anchor="t">
            <a:spAutoFit/>
          </a:bodyPr>
          <a:lstStyle/>
          <a:p>
            <a:pPr algn="l">
              <a:lnSpc>
                <a:spcPct val="110000"/>
              </a:lnSpc>
            </a:pPr>
            <a:r>
              <a:rPr sz="1050" b="0" i="0" dirty="0" err="1">
                <a:solidFill>
                  <a:srgbClr val="CADCFC"/>
                </a:solidFill>
                <a:latin typeface="Calibri"/>
              </a:rPr>
              <a:t>IDENTITY_INSERT</a:t>
            </a:r>
            <a:r>
              <a:rPr sz="1050" b="0" i="0" dirty="0">
                <a:solidFill>
                  <a:srgbClr val="CADCFC"/>
                </a:solidFill>
                <a:latin typeface="Calibri"/>
              </a:rPr>
              <a:t> в </a:t>
            </a:r>
            <a:r>
              <a:rPr sz="1050" b="0" i="0" dirty="0" err="1">
                <a:solidFill>
                  <a:srgbClr val="CADCFC"/>
                </a:solidFill>
                <a:latin typeface="Calibri"/>
              </a:rPr>
              <a:t>MSSQL</a:t>
            </a:r>
            <a:r>
              <a:rPr sz="1050" b="0" i="0" dirty="0">
                <a:solidFill>
                  <a:srgbClr val="CADCFC"/>
                </a:solidFill>
                <a:latin typeface="Calibri"/>
              </a:rPr>
              <a:t> е database-wide lock — </a:t>
            </a:r>
            <a:r>
              <a:rPr sz="1050" b="0" i="0" dirty="0" err="1">
                <a:solidFill>
                  <a:srgbClr val="CADCFC"/>
                </a:solidFill>
                <a:latin typeface="Calibri"/>
              </a:rPr>
              <a:t>само</a:t>
            </a:r>
            <a:r>
              <a:rPr sz="1050" b="0" i="0" dirty="0">
                <a:solidFill>
                  <a:srgbClr val="CADCFC"/>
                </a:solidFill>
                <a:latin typeface="Calibri"/>
              </a:rPr>
              <a:t> </a:t>
            </a:r>
            <a:r>
              <a:rPr sz="1050" b="0" i="0" dirty="0" err="1">
                <a:solidFill>
                  <a:srgbClr val="CADCFC"/>
                </a:solidFill>
                <a:latin typeface="Calibri"/>
              </a:rPr>
              <a:t>ЕДНА</a:t>
            </a:r>
            <a:r>
              <a:rPr sz="1050" b="0" i="0" dirty="0">
                <a:solidFill>
                  <a:srgbClr val="CADCFC"/>
                </a:solidFill>
                <a:latin typeface="Calibri"/>
              </a:rPr>
              <a:t> </a:t>
            </a:r>
            <a:r>
              <a:rPr sz="1050" b="0" i="0" dirty="0" err="1">
                <a:solidFill>
                  <a:srgbClr val="CADCFC"/>
                </a:solidFill>
                <a:latin typeface="Calibri"/>
              </a:rPr>
              <a:t>таблица</a:t>
            </a:r>
            <a:r>
              <a:rPr sz="1050" b="0" i="0" dirty="0">
                <a:solidFill>
                  <a:srgbClr val="CADCFC"/>
                </a:solidFill>
                <a:latin typeface="Calibri"/>
              </a:rPr>
              <a:t> </a:t>
            </a:r>
            <a:r>
              <a:rPr sz="1050" b="0" i="0" dirty="0" err="1">
                <a:solidFill>
                  <a:srgbClr val="CADCFC"/>
                </a:solidFill>
                <a:latin typeface="Calibri"/>
              </a:rPr>
              <a:t>може</a:t>
            </a:r>
            <a:r>
              <a:rPr sz="1050" b="0" i="0" dirty="0">
                <a:solidFill>
                  <a:srgbClr val="CADCFC"/>
                </a:solidFill>
                <a:latin typeface="Calibri"/>
              </a:rPr>
              <a:t> да </a:t>
            </a:r>
            <a:r>
              <a:rPr sz="1050" b="0" i="0" dirty="0" err="1">
                <a:solidFill>
                  <a:srgbClr val="CADCFC"/>
                </a:solidFill>
                <a:latin typeface="Calibri"/>
              </a:rPr>
              <a:t>го</a:t>
            </a:r>
            <a:r>
              <a:rPr sz="1050" b="0" i="0" dirty="0">
                <a:solidFill>
                  <a:srgbClr val="CADCFC"/>
                </a:solidFill>
                <a:latin typeface="Calibri"/>
              </a:rPr>
              <a:t> </a:t>
            </a:r>
            <a:r>
              <a:rPr sz="1050" b="0" i="0" dirty="0" err="1">
                <a:solidFill>
                  <a:srgbClr val="CADCFC"/>
                </a:solidFill>
                <a:latin typeface="Calibri"/>
              </a:rPr>
              <a:t>има</a:t>
            </a:r>
            <a:r>
              <a:rPr sz="1050" b="0" i="0" dirty="0">
                <a:solidFill>
                  <a:srgbClr val="CADCFC"/>
                </a:solidFill>
                <a:latin typeface="Calibri"/>
              </a:rPr>
              <a:t> </a:t>
            </a:r>
            <a:r>
              <a:rPr sz="1050" b="0" i="0" dirty="0" err="1">
                <a:solidFill>
                  <a:srgbClr val="CADCFC"/>
                </a:solidFill>
                <a:latin typeface="Calibri"/>
              </a:rPr>
              <a:t>активен</a:t>
            </a:r>
            <a:r>
              <a:rPr sz="1050" b="0" i="0" dirty="0">
                <a:solidFill>
                  <a:srgbClr val="CADCFC"/>
                </a:solidFill>
                <a:latin typeface="Calibri"/>
              </a:rPr>
              <a:t> </a:t>
            </a:r>
            <a:r>
              <a:rPr sz="1050" b="0" i="0" dirty="0" err="1">
                <a:solidFill>
                  <a:srgbClr val="CADCFC"/>
                </a:solidFill>
                <a:latin typeface="Calibri"/>
              </a:rPr>
              <a:t>едновременно</a:t>
            </a:r>
            <a:r>
              <a:rPr sz="1050" b="0" i="0" dirty="0">
                <a:solidFill>
                  <a:srgbClr val="CADCFC"/>
                </a:solidFill>
                <a:latin typeface="Calibri"/>
              </a:rPr>
              <a:t>. </a:t>
            </a:r>
            <a:r>
              <a:rPr sz="1050" b="0" i="0" dirty="0" err="1">
                <a:solidFill>
                  <a:srgbClr val="CADCFC"/>
                </a:solidFill>
                <a:latin typeface="Calibri"/>
              </a:rPr>
              <a:t>Затова</a:t>
            </a:r>
            <a:r>
              <a:rPr sz="1050" b="0" i="0" dirty="0">
                <a:solidFill>
                  <a:srgbClr val="CADCFC"/>
                </a:solidFill>
                <a:latin typeface="Calibri"/>
              </a:rPr>
              <a:t> </a:t>
            </a:r>
            <a:r>
              <a:rPr sz="1050" b="0" i="0" dirty="0" err="1">
                <a:solidFill>
                  <a:srgbClr val="CADCFC"/>
                </a:solidFill>
                <a:latin typeface="Calibri"/>
              </a:rPr>
              <a:t>CycleExecutionService</a:t>
            </a:r>
            <a:r>
              <a:rPr sz="1050" b="0" i="0" dirty="0">
                <a:solidFill>
                  <a:srgbClr val="CADCFC"/>
                </a:solidFill>
                <a:latin typeface="Calibri"/>
              </a:rPr>
              <a:t> </a:t>
            </a:r>
            <a:r>
              <a:rPr sz="1050" b="0" i="0" dirty="0" err="1">
                <a:solidFill>
                  <a:srgbClr val="CADCFC"/>
                </a:solidFill>
                <a:latin typeface="Calibri"/>
              </a:rPr>
              <a:t>автоматично</a:t>
            </a:r>
            <a:r>
              <a:rPr sz="1050" b="0" i="0" dirty="0">
                <a:solidFill>
                  <a:srgbClr val="CADCFC"/>
                </a:solidFill>
                <a:latin typeface="Calibri"/>
              </a:rPr>
              <a:t> </a:t>
            </a:r>
            <a:r>
              <a:rPr sz="1050" b="0" i="0" dirty="0" err="1">
                <a:solidFill>
                  <a:srgbClr val="CADCFC"/>
                </a:solidFill>
                <a:latin typeface="Calibri"/>
              </a:rPr>
              <a:t>превключва</a:t>
            </a:r>
            <a:r>
              <a:rPr sz="1050" b="0" i="0" dirty="0">
                <a:solidFill>
                  <a:srgbClr val="CADCFC"/>
                </a:solidFill>
                <a:latin typeface="Calibri"/>
              </a:rPr>
              <a:t> </a:t>
            </a:r>
            <a:r>
              <a:rPr sz="1050" b="0" i="0" dirty="0" err="1">
                <a:solidFill>
                  <a:srgbClr val="CADCFC"/>
                </a:solidFill>
                <a:latin typeface="Calibri"/>
              </a:rPr>
              <a:t>на</a:t>
            </a:r>
            <a:r>
              <a:rPr sz="1050" b="0" i="0" dirty="0">
                <a:solidFill>
                  <a:srgbClr val="CADCFC"/>
                </a:solidFill>
                <a:latin typeface="Calibri"/>
              </a:rPr>
              <a:t> SEQUENTIAL </a:t>
            </a:r>
            <a:r>
              <a:rPr sz="1050" b="0" i="0" dirty="0" err="1">
                <a:solidFill>
                  <a:srgbClr val="CADCFC"/>
                </a:solidFill>
                <a:latin typeface="Calibri"/>
              </a:rPr>
              <a:t>изпълнение</a:t>
            </a:r>
            <a:r>
              <a:rPr sz="1050" b="0" i="0" dirty="0">
                <a:solidFill>
                  <a:srgbClr val="CADCFC"/>
                </a:solidFill>
                <a:latin typeface="Calibri"/>
              </a:rPr>
              <a:t>, </a:t>
            </a:r>
            <a:r>
              <a:rPr sz="1050" b="0" i="0" dirty="0" err="1">
                <a:solidFill>
                  <a:srgbClr val="CADCFC"/>
                </a:solidFill>
                <a:latin typeface="Calibri"/>
              </a:rPr>
              <a:t>когато</a:t>
            </a:r>
            <a:r>
              <a:rPr sz="1050" b="0" i="0" dirty="0">
                <a:solidFill>
                  <a:srgbClr val="CADCFC"/>
                </a:solidFill>
                <a:latin typeface="Calibri"/>
              </a:rPr>
              <a:t> target-</a:t>
            </a:r>
            <a:r>
              <a:rPr sz="1050" b="0" i="0" dirty="0" err="1">
                <a:solidFill>
                  <a:srgbClr val="CADCFC"/>
                </a:solidFill>
                <a:latin typeface="Calibri"/>
              </a:rPr>
              <a:t>ът</a:t>
            </a:r>
            <a:r>
              <a:rPr sz="1050" b="0" i="0" dirty="0">
                <a:solidFill>
                  <a:srgbClr val="CADCFC"/>
                </a:solidFill>
                <a:latin typeface="Calibri"/>
              </a:rPr>
              <a:t> е </a:t>
            </a:r>
            <a:r>
              <a:rPr sz="1050" b="0" i="0" dirty="0" err="1">
                <a:solidFill>
                  <a:srgbClr val="CADCFC"/>
                </a:solidFill>
                <a:latin typeface="Calibri"/>
              </a:rPr>
              <a:t>MSSQL</a:t>
            </a:r>
            <a:r>
              <a:rPr sz="1050" b="0" i="0" dirty="0">
                <a:solidFill>
                  <a:srgbClr val="CADCFC"/>
                </a:solidFill>
                <a:latin typeface="Calibri"/>
              </a:rPr>
              <a:t>, </a:t>
            </a:r>
            <a:r>
              <a:rPr sz="1050" b="0" i="0" dirty="0" err="1">
                <a:solidFill>
                  <a:srgbClr val="CADCFC"/>
                </a:solidFill>
                <a:latin typeface="Calibri"/>
              </a:rPr>
              <a:t>вместо</a:t>
            </a:r>
            <a:r>
              <a:rPr sz="1050" b="0" i="0" dirty="0">
                <a:solidFill>
                  <a:srgbClr val="CADCFC"/>
                </a:solidFill>
                <a:latin typeface="Calibri"/>
              </a:rPr>
              <a:t> </a:t>
            </a:r>
            <a:r>
              <a:rPr sz="1050" b="0" i="0" dirty="0" err="1">
                <a:solidFill>
                  <a:srgbClr val="CADCFC"/>
                </a:solidFill>
                <a:latin typeface="Calibri"/>
              </a:rPr>
              <a:t>паралелно</a:t>
            </a:r>
            <a:r>
              <a:rPr sz="1050" b="0" i="0" dirty="0">
                <a:solidFill>
                  <a:srgbClr val="CADCFC"/>
                </a:solidFill>
                <a:latin typeface="Calibri"/>
              </a:rPr>
              <a:t> </a:t>
            </a:r>
            <a:r>
              <a:rPr sz="1050" b="0" i="0" dirty="0" err="1">
                <a:solidFill>
                  <a:srgbClr val="CADCFC"/>
                </a:solidFill>
                <a:latin typeface="Calibri"/>
              </a:rPr>
              <a:t>по</a:t>
            </a:r>
            <a:r>
              <a:rPr sz="1050" b="0" i="0" dirty="0">
                <a:solidFill>
                  <a:srgbClr val="CADCFC"/>
                </a:solidFill>
                <a:latin typeface="Calibri"/>
              </a:rPr>
              <a:t> </a:t>
            </a:r>
            <a:r>
              <a:rPr sz="1050" b="0" i="0" dirty="0" err="1">
                <a:solidFill>
                  <a:srgbClr val="CADCFC"/>
                </a:solidFill>
                <a:latin typeface="Calibri"/>
              </a:rPr>
              <a:t>подразбиране</a:t>
            </a:r>
            <a:r>
              <a:rPr sz="1050" b="0" i="0" dirty="0">
                <a:solidFill>
                  <a:srgbClr val="CADCFC"/>
                </a:solidFill>
                <a:latin typeface="Calibri"/>
              </a:rPr>
              <a:t>.</a:t>
            </a:r>
          </a:p>
        </p:txBody>
      </p:sp>
      <p:sp>
        <p:nvSpPr>
          <p:cNvPr id="29" name="Rounded Rectangle 28"/>
          <p:cNvSpPr/>
          <p:nvPr/>
        </p:nvSpPr>
        <p:spPr>
          <a:xfrm>
            <a:off x="6263640" y="3977639"/>
            <a:ext cx="5257800" cy="21488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92240" y="4233672"/>
            <a:ext cx="502920" cy="50292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8"/>
          <a:stretch>
            <a:fillRect/>
          </a:stretch>
        </p:blipFill>
        <p:spPr>
          <a:xfrm>
            <a:off x="6557619" y="4299051"/>
            <a:ext cx="372160" cy="372160"/>
          </a:xfrm>
          <a:prstGeom prst="rect">
            <a:avLst/>
          </a:prstGeom>
        </p:spPr>
      </p:pic>
      <p:sp>
        <p:nvSpPr>
          <p:cNvPr id="32" name="TextBox 31"/>
          <p:cNvSpPr txBox="1"/>
          <p:nvPr/>
        </p:nvSpPr>
        <p:spPr>
          <a:xfrm>
            <a:off x="7132320" y="4270248"/>
            <a:ext cx="4343400" cy="223138"/>
          </a:xfrm>
          <a:prstGeom prst="rect">
            <a:avLst/>
          </a:prstGeom>
          <a:noFill/>
        </p:spPr>
        <p:txBody>
          <a:bodyPr wrap="square" lIns="0" tIns="0" rIns="0" bIns="0" anchor="t">
            <a:spAutoFit/>
          </a:bodyPr>
          <a:lstStyle/>
          <a:p>
            <a:pPr algn="l"/>
            <a:r>
              <a:rPr lang="bg-BG" sz="1450" b="1" dirty="0">
                <a:solidFill>
                  <a:srgbClr val="FFFFFF"/>
                </a:solidFill>
                <a:latin typeface="Calibri"/>
              </a:rPr>
              <a:t>Ранно прекратяване</a:t>
            </a:r>
            <a:endParaRPr sz="1450" b="1" i="0" dirty="0">
              <a:solidFill>
                <a:srgbClr val="FFFFFF"/>
              </a:solidFill>
              <a:latin typeface="Calibri"/>
            </a:endParaRPr>
          </a:p>
        </p:txBody>
      </p:sp>
      <p:sp>
        <p:nvSpPr>
          <p:cNvPr id="33" name="TextBox 32"/>
          <p:cNvSpPr txBox="1"/>
          <p:nvPr/>
        </p:nvSpPr>
        <p:spPr>
          <a:xfrm>
            <a:off x="6492240" y="4846320"/>
            <a:ext cx="4800600" cy="1188720"/>
          </a:xfrm>
          <a:prstGeom prst="rect">
            <a:avLst/>
          </a:prstGeom>
          <a:noFill/>
        </p:spPr>
        <p:txBody>
          <a:bodyPr wrap="square" lIns="0" tIns="0" rIns="0" bIns="0" anchor="t">
            <a:spAutoFit/>
          </a:bodyPr>
          <a:lstStyle/>
          <a:p>
            <a:pPr algn="l">
              <a:lnSpc>
                <a:spcPct val="110000"/>
              </a:lnSpc>
            </a:pPr>
            <a:r>
              <a:rPr sz="1050" b="0" i="0">
                <a:solidFill>
                  <a:srgbClr val="CADCFC"/>
                </a:solidFill>
                <a:latin typeface="Calibri"/>
              </a:rPr>
              <a:t>Провал на една задача в партида → целият цикъл се маркира FAILED → всички задачи в оставащите партиди се отменят (cancelRemainingTasks). Никакви „тихи“ частични миграции.</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640080" y="457200"/>
            <a:ext cx="640080" cy="64008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723290" y="540410"/>
            <a:ext cx="473659" cy="473659"/>
          </a:xfrm>
          <a:prstGeom prst="rect">
            <a:avLst/>
          </a:prstGeom>
        </p:spPr>
      </p:pic>
      <p:sp>
        <p:nvSpPr>
          <p:cNvPr id="4" name="TextBox 3"/>
          <p:cNvSpPr txBox="1"/>
          <p:nvPr/>
        </p:nvSpPr>
        <p:spPr>
          <a:xfrm>
            <a:off x="1463040" y="457200"/>
            <a:ext cx="9601200" cy="640080"/>
          </a:xfrm>
          <a:prstGeom prst="rect">
            <a:avLst/>
          </a:prstGeom>
          <a:noFill/>
        </p:spPr>
        <p:txBody>
          <a:bodyPr wrap="square" lIns="0" tIns="0" rIns="0" bIns="0" anchor="ctr">
            <a:spAutoFit/>
          </a:bodyPr>
          <a:lstStyle/>
          <a:p>
            <a:pPr algn="l"/>
            <a:r>
              <a:rPr sz="2700" b="1" i="0">
                <a:solidFill>
                  <a:srgbClr val="FFFFFF"/>
                </a:solidFill>
                <a:latin typeface="Calibri"/>
              </a:rPr>
              <a:t>Сигурност и многонаемателска архитектура</a:t>
            </a:r>
          </a:p>
        </p:txBody>
      </p:sp>
      <p:pic>
        <p:nvPicPr>
          <p:cNvPr id="6" name="Picture 5" descr="image.png"/>
          <p:cNvPicPr>
            <a:picLocks noChangeAspect="1"/>
          </p:cNvPicPr>
          <p:nvPr/>
        </p:nvPicPr>
        <p:blipFill>
          <a:blip r:embed="rId4"/>
          <a:stretch>
            <a:fillRect/>
          </a:stretch>
        </p:blipFill>
        <p:spPr>
          <a:xfrm>
            <a:off x="733172" y="1693468"/>
            <a:ext cx="270662" cy="270662"/>
          </a:xfrm>
          <a:prstGeom prst="rect">
            <a:avLst/>
          </a:prstGeom>
        </p:spPr>
      </p:pic>
      <p:sp>
        <p:nvSpPr>
          <p:cNvPr id="7" name="TextBox 6"/>
          <p:cNvSpPr txBox="1"/>
          <p:nvPr/>
        </p:nvSpPr>
        <p:spPr>
          <a:xfrm>
            <a:off x="1188544" y="1618488"/>
            <a:ext cx="5486400" cy="640080"/>
          </a:xfrm>
          <a:prstGeom prst="rect">
            <a:avLst/>
          </a:prstGeom>
          <a:noFill/>
        </p:spPr>
        <p:txBody>
          <a:bodyPr wrap="square" lIns="0" tIns="0" rIns="0" bIns="0" anchor="ctr">
            <a:spAutoFit/>
          </a:bodyPr>
          <a:lstStyle/>
          <a:p>
            <a:pPr algn="l">
              <a:lnSpc>
                <a:spcPct val="105000"/>
              </a:lnSpc>
            </a:pPr>
            <a:r>
              <a:rPr sz="1200" b="0" i="0">
                <a:solidFill>
                  <a:srgbClr val="CADCFC"/>
                </a:solidFill>
                <a:latin typeface="Calibri"/>
              </a:rPr>
              <a:t>JWT автентикация с версиониране на токени — моментално анулиране при излизане от системата или смяна на роля</a:t>
            </a:r>
          </a:p>
        </p:txBody>
      </p:sp>
      <p:pic>
        <p:nvPicPr>
          <p:cNvPr id="9" name="Picture 8" descr="image.png"/>
          <p:cNvPicPr>
            <a:picLocks noChangeAspect="1"/>
          </p:cNvPicPr>
          <p:nvPr/>
        </p:nvPicPr>
        <p:blipFill>
          <a:blip r:embed="rId4"/>
          <a:stretch>
            <a:fillRect/>
          </a:stretch>
        </p:blipFill>
        <p:spPr>
          <a:xfrm>
            <a:off x="731168" y="2671877"/>
            <a:ext cx="270662" cy="270662"/>
          </a:xfrm>
          <a:prstGeom prst="rect">
            <a:avLst/>
          </a:prstGeom>
        </p:spPr>
      </p:pic>
      <p:sp>
        <p:nvSpPr>
          <p:cNvPr id="10" name="TextBox 9"/>
          <p:cNvSpPr txBox="1"/>
          <p:nvPr/>
        </p:nvSpPr>
        <p:spPr>
          <a:xfrm>
            <a:off x="1188544" y="2487168"/>
            <a:ext cx="5486400" cy="640080"/>
          </a:xfrm>
          <a:prstGeom prst="rect">
            <a:avLst/>
          </a:prstGeom>
          <a:noFill/>
        </p:spPr>
        <p:txBody>
          <a:bodyPr wrap="square" lIns="0" tIns="0" rIns="0" bIns="0" anchor="ctr">
            <a:spAutoFit/>
          </a:bodyPr>
          <a:lstStyle/>
          <a:p>
            <a:pPr algn="l">
              <a:lnSpc>
                <a:spcPct val="105000"/>
              </a:lnSpc>
            </a:pPr>
            <a:r>
              <a:rPr sz="1200" b="0" i="0">
                <a:solidFill>
                  <a:srgbClr val="CADCFC"/>
                </a:solidFill>
                <a:latin typeface="Calibri"/>
              </a:rPr>
              <a:t>Изолация на данни по организация — всеки обект е обвързан с организация</a:t>
            </a:r>
          </a:p>
        </p:txBody>
      </p:sp>
      <p:pic>
        <p:nvPicPr>
          <p:cNvPr id="12" name="Picture 11" descr="image.png"/>
          <p:cNvPicPr>
            <a:picLocks noChangeAspect="1"/>
          </p:cNvPicPr>
          <p:nvPr/>
        </p:nvPicPr>
        <p:blipFill>
          <a:blip r:embed="rId4"/>
          <a:stretch>
            <a:fillRect/>
          </a:stretch>
        </p:blipFill>
        <p:spPr>
          <a:xfrm>
            <a:off x="733172" y="3556101"/>
            <a:ext cx="270662" cy="270662"/>
          </a:xfrm>
          <a:prstGeom prst="rect">
            <a:avLst/>
          </a:prstGeom>
        </p:spPr>
      </p:pic>
      <p:sp>
        <p:nvSpPr>
          <p:cNvPr id="13" name="TextBox 12"/>
          <p:cNvSpPr txBox="1"/>
          <p:nvPr/>
        </p:nvSpPr>
        <p:spPr>
          <a:xfrm>
            <a:off x="1188544" y="3355848"/>
            <a:ext cx="5486400" cy="640080"/>
          </a:xfrm>
          <a:prstGeom prst="rect">
            <a:avLst/>
          </a:prstGeom>
          <a:noFill/>
        </p:spPr>
        <p:txBody>
          <a:bodyPr wrap="square" lIns="0" tIns="0" rIns="0" bIns="0" anchor="ctr">
            <a:spAutoFit/>
          </a:bodyPr>
          <a:lstStyle/>
          <a:p>
            <a:pPr algn="l">
              <a:lnSpc>
                <a:spcPct val="105000"/>
              </a:lnSpc>
            </a:pPr>
            <a:r>
              <a:rPr sz="1200" b="0" i="0">
                <a:solidFill>
                  <a:srgbClr val="CADCFC"/>
                </a:solidFill>
                <a:latin typeface="Calibri"/>
              </a:rPr>
              <a:t>Филтър за ограничаване на честотата на заявките (rate limiting) на API слоя</a:t>
            </a:r>
          </a:p>
        </p:txBody>
      </p:sp>
      <p:sp>
        <p:nvSpPr>
          <p:cNvPr id="14" name="Rounded Rectangle 13"/>
          <p:cNvSpPr/>
          <p:nvPr/>
        </p:nvSpPr>
        <p:spPr>
          <a:xfrm>
            <a:off x="6537784" y="1600200"/>
            <a:ext cx="5029200" cy="4572000"/>
          </a:xfrm>
          <a:prstGeom prst="roundRect">
            <a:avLst>
              <a:gd name="adj" fmla="val 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103" y="1828800"/>
            <a:ext cx="4480560" cy="230832"/>
          </a:xfrm>
          <a:prstGeom prst="rect">
            <a:avLst/>
          </a:prstGeom>
          <a:noFill/>
        </p:spPr>
        <p:txBody>
          <a:bodyPr wrap="square" lIns="0" tIns="0" rIns="0" bIns="0" anchor="t">
            <a:spAutoFit/>
          </a:bodyPr>
          <a:lstStyle/>
          <a:p>
            <a:pPr algn="l"/>
            <a:r>
              <a:rPr lang="bg-BG" sz="1500" b="1" i="0" dirty="0">
                <a:solidFill>
                  <a:srgbClr val="FFFFFF"/>
                </a:solidFill>
                <a:latin typeface="Calibri"/>
              </a:rPr>
              <a:t>Достъп зависещ от ролята на потребителя</a:t>
            </a:r>
            <a:endParaRPr sz="1500" b="1" i="0" dirty="0">
              <a:solidFill>
                <a:srgbClr val="FFFFFF"/>
              </a:solidFill>
              <a:latin typeface="Calibri"/>
            </a:endParaRPr>
          </a:p>
        </p:txBody>
      </p:sp>
      <p:sp>
        <p:nvSpPr>
          <p:cNvPr id="16" name="TextBox 15"/>
          <p:cNvSpPr txBox="1"/>
          <p:nvPr/>
        </p:nvSpPr>
        <p:spPr>
          <a:xfrm>
            <a:off x="6812103" y="2194560"/>
            <a:ext cx="4480560" cy="320040"/>
          </a:xfrm>
          <a:prstGeom prst="rect">
            <a:avLst/>
          </a:prstGeom>
          <a:noFill/>
        </p:spPr>
        <p:txBody>
          <a:bodyPr wrap="square" lIns="0" tIns="0" rIns="0" bIns="0" anchor="t">
            <a:spAutoFit/>
          </a:bodyPr>
          <a:lstStyle/>
          <a:p>
            <a:pPr algn="l"/>
            <a:r>
              <a:rPr sz="1050" b="0" i="1" dirty="0" err="1">
                <a:solidFill>
                  <a:srgbClr val="9AABE0"/>
                </a:solidFill>
                <a:latin typeface="Calibri"/>
              </a:rPr>
              <a:t>Прилагано</a:t>
            </a:r>
            <a:r>
              <a:rPr sz="1050" b="0" i="1" dirty="0">
                <a:solidFill>
                  <a:srgbClr val="9AABE0"/>
                </a:solidFill>
                <a:latin typeface="Calibri"/>
              </a:rPr>
              <a:t> </a:t>
            </a:r>
            <a:r>
              <a:rPr sz="1050" b="0" i="1" dirty="0" err="1">
                <a:solidFill>
                  <a:srgbClr val="9AABE0"/>
                </a:solidFill>
                <a:latin typeface="Calibri"/>
              </a:rPr>
              <a:t>на</a:t>
            </a:r>
            <a:r>
              <a:rPr sz="1050" b="0" i="1" dirty="0">
                <a:solidFill>
                  <a:srgbClr val="9AABE0"/>
                </a:solidFill>
                <a:latin typeface="Calibri"/>
              </a:rPr>
              <a:t> </a:t>
            </a:r>
            <a:r>
              <a:rPr sz="1050" b="0" i="1" dirty="0" err="1">
                <a:solidFill>
                  <a:srgbClr val="9AABE0"/>
                </a:solidFill>
                <a:latin typeface="Calibri"/>
              </a:rPr>
              <a:t>ниво</a:t>
            </a:r>
            <a:r>
              <a:rPr sz="1050" b="0" i="1" dirty="0">
                <a:solidFill>
                  <a:srgbClr val="9AABE0"/>
                </a:solidFill>
                <a:latin typeface="Calibri"/>
              </a:rPr>
              <a:t> </a:t>
            </a:r>
            <a:r>
              <a:rPr sz="1050" b="0" i="1" dirty="0" err="1">
                <a:solidFill>
                  <a:srgbClr val="9AABE0"/>
                </a:solidFill>
                <a:latin typeface="Calibri"/>
              </a:rPr>
              <a:t>контролер</a:t>
            </a:r>
            <a:r>
              <a:rPr sz="1050" b="0" i="1" dirty="0">
                <a:solidFill>
                  <a:srgbClr val="9AABE0"/>
                </a:solidFill>
                <a:latin typeface="Calibri"/>
              </a:rPr>
              <a:t> с @</a:t>
            </a:r>
            <a:r>
              <a:rPr sz="1050" b="0" i="1" dirty="0" err="1">
                <a:solidFill>
                  <a:srgbClr val="9AABE0"/>
                </a:solidFill>
                <a:latin typeface="Calibri"/>
              </a:rPr>
              <a:t>PreAuthorize</a:t>
            </a:r>
            <a:endParaRPr sz="1050" b="0" i="1" dirty="0">
              <a:solidFill>
                <a:srgbClr val="9AABE0"/>
              </a:solidFill>
              <a:latin typeface="Calibri"/>
            </a:endParaRPr>
          </a:p>
        </p:txBody>
      </p:sp>
      <p:sp>
        <p:nvSpPr>
          <p:cNvPr id="17" name="TextBox 16"/>
          <p:cNvSpPr txBox="1"/>
          <p:nvPr/>
        </p:nvSpPr>
        <p:spPr>
          <a:xfrm>
            <a:off x="6812103" y="2651760"/>
            <a:ext cx="4480560" cy="237744"/>
          </a:xfrm>
          <a:prstGeom prst="rect">
            <a:avLst/>
          </a:prstGeom>
          <a:noFill/>
        </p:spPr>
        <p:txBody>
          <a:bodyPr wrap="square" lIns="0" tIns="0" rIns="0" bIns="0" anchor="t">
            <a:spAutoFit/>
          </a:bodyPr>
          <a:lstStyle/>
          <a:p>
            <a:pPr algn="l"/>
            <a:r>
              <a:rPr sz="1100" b="1" i="0">
                <a:solidFill>
                  <a:srgbClr val="3DDC97"/>
                </a:solidFill>
                <a:latin typeface="Courier New"/>
              </a:rPr>
              <a:t>ADMIN</a:t>
            </a:r>
          </a:p>
        </p:txBody>
      </p:sp>
      <p:sp>
        <p:nvSpPr>
          <p:cNvPr id="18" name="TextBox 17"/>
          <p:cNvSpPr txBox="1"/>
          <p:nvPr/>
        </p:nvSpPr>
        <p:spPr>
          <a:xfrm>
            <a:off x="6812103" y="2898648"/>
            <a:ext cx="4480560" cy="384048"/>
          </a:xfrm>
          <a:prstGeom prst="rect">
            <a:avLst/>
          </a:prstGeom>
          <a:noFill/>
        </p:spPr>
        <p:txBody>
          <a:bodyPr wrap="square" lIns="0" tIns="0" rIns="0" bIns="0" anchor="t">
            <a:spAutoFit/>
          </a:bodyPr>
          <a:lstStyle/>
          <a:p>
            <a:pPr algn="l">
              <a:lnSpc>
                <a:spcPct val="100000"/>
              </a:lnSpc>
            </a:pPr>
            <a:r>
              <a:rPr sz="969" b="0" i="0">
                <a:solidFill>
                  <a:srgbClr val="CADCFC"/>
                </a:solidFill>
                <a:latin typeface="Calibri"/>
              </a:rPr>
              <a:t>пълен достъп — потребители, организации, всички домейни</a:t>
            </a:r>
          </a:p>
        </p:txBody>
      </p:sp>
      <p:sp>
        <p:nvSpPr>
          <p:cNvPr id="19" name="TextBox 18"/>
          <p:cNvSpPr txBox="1"/>
          <p:nvPr/>
        </p:nvSpPr>
        <p:spPr>
          <a:xfrm>
            <a:off x="6812103" y="3355848"/>
            <a:ext cx="4480560" cy="237744"/>
          </a:xfrm>
          <a:prstGeom prst="rect">
            <a:avLst/>
          </a:prstGeom>
          <a:noFill/>
        </p:spPr>
        <p:txBody>
          <a:bodyPr wrap="square" lIns="0" tIns="0" rIns="0" bIns="0" anchor="t">
            <a:spAutoFit/>
          </a:bodyPr>
          <a:lstStyle/>
          <a:p>
            <a:pPr algn="l"/>
            <a:r>
              <a:rPr sz="1100" b="1" i="0">
                <a:solidFill>
                  <a:srgbClr val="3DDC97"/>
                </a:solidFill>
                <a:latin typeface="Courier New"/>
              </a:rPr>
              <a:t>MIGRATION_ADMIN</a:t>
            </a:r>
          </a:p>
        </p:txBody>
      </p:sp>
      <p:sp>
        <p:nvSpPr>
          <p:cNvPr id="20" name="TextBox 19"/>
          <p:cNvSpPr txBox="1"/>
          <p:nvPr/>
        </p:nvSpPr>
        <p:spPr>
          <a:xfrm>
            <a:off x="6812103" y="3602736"/>
            <a:ext cx="4480560" cy="384048"/>
          </a:xfrm>
          <a:prstGeom prst="rect">
            <a:avLst/>
          </a:prstGeom>
          <a:noFill/>
        </p:spPr>
        <p:txBody>
          <a:bodyPr wrap="square" lIns="0" tIns="0" rIns="0" bIns="0" anchor="t">
            <a:spAutoFit/>
          </a:bodyPr>
          <a:lstStyle/>
          <a:p>
            <a:pPr algn="l">
              <a:lnSpc>
                <a:spcPct val="100000"/>
              </a:lnSpc>
            </a:pPr>
            <a:r>
              <a:rPr sz="969" b="0" i="0">
                <a:solidFill>
                  <a:srgbClr val="CADCFC"/>
                </a:solidFill>
                <a:latin typeface="Calibri"/>
              </a:rPr>
              <a:t>управление на потребители и достъп до всички домейни в организацията</a:t>
            </a:r>
          </a:p>
        </p:txBody>
      </p:sp>
      <p:sp>
        <p:nvSpPr>
          <p:cNvPr id="21" name="TextBox 20"/>
          <p:cNvSpPr txBox="1"/>
          <p:nvPr/>
        </p:nvSpPr>
        <p:spPr>
          <a:xfrm>
            <a:off x="6812103" y="4059935"/>
            <a:ext cx="4480560" cy="237744"/>
          </a:xfrm>
          <a:prstGeom prst="rect">
            <a:avLst/>
          </a:prstGeom>
          <a:noFill/>
        </p:spPr>
        <p:txBody>
          <a:bodyPr wrap="square" lIns="0" tIns="0" rIns="0" bIns="0" anchor="t">
            <a:spAutoFit/>
          </a:bodyPr>
          <a:lstStyle/>
          <a:p>
            <a:pPr algn="l"/>
            <a:r>
              <a:rPr sz="1100" b="1" i="0">
                <a:solidFill>
                  <a:srgbClr val="3DDC97"/>
                </a:solidFill>
                <a:latin typeface="Courier New"/>
              </a:rPr>
              <a:t>CONNECTOR_USER</a:t>
            </a:r>
          </a:p>
        </p:txBody>
      </p:sp>
      <p:sp>
        <p:nvSpPr>
          <p:cNvPr id="22" name="TextBox 21"/>
          <p:cNvSpPr txBox="1"/>
          <p:nvPr/>
        </p:nvSpPr>
        <p:spPr>
          <a:xfrm>
            <a:off x="6812103" y="4306823"/>
            <a:ext cx="4480560" cy="384048"/>
          </a:xfrm>
          <a:prstGeom prst="rect">
            <a:avLst/>
          </a:prstGeom>
          <a:noFill/>
        </p:spPr>
        <p:txBody>
          <a:bodyPr wrap="square" lIns="0" tIns="0" rIns="0" bIns="0" anchor="t">
            <a:spAutoFit/>
          </a:bodyPr>
          <a:lstStyle/>
          <a:p>
            <a:pPr algn="l">
              <a:lnSpc>
                <a:spcPct val="100000"/>
              </a:lnSpc>
            </a:pPr>
            <a:r>
              <a:rPr sz="969" b="0" i="0">
                <a:solidFill>
                  <a:srgbClr val="CADCFC"/>
                </a:solidFill>
                <a:latin typeface="Calibri"/>
              </a:rPr>
              <a:t>достъп само до connector домейна</a:t>
            </a:r>
          </a:p>
        </p:txBody>
      </p:sp>
      <p:sp>
        <p:nvSpPr>
          <p:cNvPr id="23" name="TextBox 22"/>
          <p:cNvSpPr txBox="1"/>
          <p:nvPr/>
        </p:nvSpPr>
        <p:spPr>
          <a:xfrm>
            <a:off x="6812103" y="4764023"/>
            <a:ext cx="4480560" cy="237744"/>
          </a:xfrm>
          <a:prstGeom prst="rect">
            <a:avLst/>
          </a:prstGeom>
          <a:noFill/>
        </p:spPr>
        <p:txBody>
          <a:bodyPr wrap="square" lIns="0" tIns="0" rIns="0" bIns="0" anchor="t">
            <a:spAutoFit/>
          </a:bodyPr>
          <a:lstStyle/>
          <a:p>
            <a:pPr algn="l"/>
            <a:r>
              <a:rPr sz="1100" b="1" i="0">
                <a:solidFill>
                  <a:srgbClr val="3DDC97"/>
                </a:solidFill>
                <a:latin typeface="Courier New"/>
              </a:rPr>
              <a:t>TRANSFORMATION_MODEL_USER</a:t>
            </a:r>
          </a:p>
        </p:txBody>
      </p:sp>
      <p:sp>
        <p:nvSpPr>
          <p:cNvPr id="24" name="TextBox 23"/>
          <p:cNvSpPr txBox="1"/>
          <p:nvPr/>
        </p:nvSpPr>
        <p:spPr>
          <a:xfrm>
            <a:off x="6812103" y="5010911"/>
            <a:ext cx="4480560" cy="384048"/>
          </a:xfrm>
          <a:prstGeom prst="rect">
            <a:avLst/>
          </a:prstGeom>
          <a:noFill/>
        </p:spPr>
        <p:txBody>
          <a:bodyPr wrap="square" lIns="0" tIns="0" rIns="0" bIns="0" anchor="t">
            <a:spAutoFit/>
          </a:bodyPr>
          <a:lstStyle/>
          <a:p>
            <a:pPr algn="l">
              <a:lnSpc>
                <a:spcPct val="100000"/>
              </a:lnSpc>
            </a:pPr>
            <a:r>
              <a:rPr sz="969" b="0" i="0">
                <a:solidFill>
                  <a:srgbClr val="CADCFC"/>
                </a:solidFill>
                <a:latin typeface="Calibri"/>
              </a:rPr>
              <a:t>достъп само до transformation домейна</a:t>
            </a:r>
          </a:p>
        </p:txBody>
      </p:sp>
      <p:sp>
        <p:nvSpPr>
          <p:cNvPr id="25" name="TextBox 24"/>
          <p:cNvSpPr txBox="1"/>
          <p:nvPr/>
        </p:nvSpPr>
        <p:spPr>
          <a:xfrm>
            <a:off x="6812103" y="5468111"/>
            <a:ext cx="4480560" cy="237744"/>
          </a:xfrm>
          <a:prstGeom prst="rect">
            <a:avLst/>
          </a:prstGeom>
          <a:noFill/>
        </p:spPr>
        <p:txBody>
          <a:bodyPr wrap="square" lIns="0" tIns="0" rIns="0" bIns="0" anchor="t">
            <a:spAutoFit/>
          </a:bodyPr>
          <a:lstStyle/>
          <a:p>
            <a:pPr algn="l"/>
            <a:r>
              <a:rPr sz="1100" b="1" i="0">
                <a:solidFill>
                  <a:srgbClr val="3DDC97"/>
                </a:solidFill>
                <a:latin typeface="Courier New"/>
              </a:rPr>
              <a:t>CYCLE_EXECUTION_USER</a:t>
            </a:r>
          </a:p>
        </p:txBody>
      </p:sp>
      <p:sp>
        <p:nvSpPr>
          <p:cNvPr id="26" name="TextBox 25"/>
          <p:cNvSpPr txBox="1"/>
          <p:nvPr/>
        </p:nvSpPr>
        <p:spPr>
          <a:xfrm>
            <a:off x="6812103" y="5714999"/>
            <a:ext cx="4480560" cy="149143"/>
          </a:xfrm>
          <a:prstGeom prst="rect">
            <a:avLst/>
          </a:prstGeom>
          <a:noFill/>
        </p:spPr>
        <p:txBody>
          <a:bodyPr wrap="square" lIns="0" tIns="0" rIns="0" bIns="0" anchor="t">
            <a:spAutoFit/>
          </a:bodyPr>
          <a:lstStyle/>
          <a:p>
            <a:pPr algn="l">
              <a:lnSpc>
                <a:spcPct val="100000"/>
              </a:lnSpc>
            </a:pPr>
            <a:r>
              <a:rPr sz="969" b="0" i="0" dirty="0" err="1">
                <a:solidFill>
                  <a:srgbClr val="CADCFC"/>
                </a:solidFill>
                <a:latin typeface="Calibri"/>
              </a:rPr>
              <a:t>достъп</a:t>
            </a:r>
            <a:r>
              <a:rPr sz="969" b="0" i="0" dirty="0">
                <a:solidFill>
                  <a:srgbClr val="CADCFC"/>
                </a:solidFill>
                <a:latin typeface="Calibri"/>
              </a:rPr>
              <a:t> </a:t>
            </a:r>
            <a:r>
              <a:rPr sz="969" b="0" i="0" dirty="0" err="1">
                <a:solidFill>
                  <a:srgbClr val="CADCFC"/>
                </a:solidFill>
                <a:latin typeface="Calibri"/>
              </a:rPr>
              <a:t>само</a:t>
            </a:r>
            <a:r>
              <a:rPr sz="969" b="0" i="0" dirty="0">
                <a:solidFill>
                  <a:srgbClr val="CADCFC"/>
                </a:solidFill>
                <a:latin typeface="Calibri"/>
              </a:rPr>
              <a:t> </a:t>
            </a:r>
            <a:r>
              <a:rPr sz="969" b="0" i="0" dirty="0" err="1">
                <a:solidFill>
                  <a:srgbClr val="CADCFC"/>
                </a:solidFill>
                <a:latin typeface="Calibri"/>
              </a:rPr>
              <a:t>до</a:t>
            </a:r>
            <a:r>
              <a:rPr sz="969" b="0" i="0" dirty="0">
                <a:solidFill>
                  <a:srgbClr val="CADCFC"/>
                </a:solidFill>
                <a:latin typeface="Calibri"/>
              </a:rPr>
              <a:t> execution </a:t>
            </a:r>
            <a:r>
              <a:rPr sz="969" b="0" i="0" dirty="0" err="1">
                <a:solidFill>
                  <a:srgbClr val="CADCFC"/>
                </a:solidFill>
                <a:latin typeface="Calibri"/>
              </a:rPr>
              <a:t>домейна</a:t>
            </a:r>
            <a:endParaRPr sz="969" b="0" i="0" dirty="0">
              <a:solidFill>
                <a:srgbClr val="CADCFC"/>
              </a:solidFill>
              <a:latin typeface="Calibri"/>
            </a:endParaRPr>
          </a:p>
        </p:txBody>
      </p:sp>
      <p:sp>
        <p:nvSpPr>
          <p:cNvPr id="29" name="Rounded Rectangle 28"/>
          <p:cNvSpPr/>
          <p:nvPr/>
        </p:nvSpPr>
        <p:spPr>
          <a:xfrm>
            <a:off x="685624" y="4297680"/>
            <a:ext cx="5486400" cy="1874519"/>
          </a:xfrm>
          <a:prstGeom prst="roundRect">
            <a:avLst>
              <a:gd name="adj" fmla="val 8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14224" y="4526280"/>
            <a:ext cx="457200" cy="45720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building_accent.png"/>
          <p:cNvPicPr>
            <a:picLocks noChangeAspect="1"/>
          </p:cNvPicPr>
          <p:nvPr/>
        </p:nvPicPr>
        <p:blipFill>
          <a:blip r:embed="rId5"/>
          <a:stretch>
            <a:fillRect/>
          </a:stretch>
        </p:blipFill>
        <p:spPr>
          <a:xfrm>
            <a:off x="973659" y="4585716"/>
            <a:ext cx="338328" cy="338328"/>
          </a:xfrm>
          <a:prstGeom prst="rect">
            <a:avLst/>
          </a:prstGeom>
        </p:spPr>
      </p:pic>
      <p:sp>
        <p:nvSpPr>
          <p:cNvPr id="32" name="TextBox 31"/>
          <p:cNvSpPr txBox="1"/>
          <p:nvPr/>
        </p:nvSpPr>
        <p:spPr>
          <a:xfrm>
            <a:off x="1554304" y="4553712"/>
            <a:ext cx="4389120" cy="411480"/>
          </a:xfrm>
          <a:prstGeom prst="rect">
            <a:avLst/>
          </a:prstGeom>
          <a:noFill/>
        </p:spPr>
        <p:txBody>
          <a:bodyPr wrap="square" lIns="0" tIns="0" rIns="0" bIns="0" anchor="ctr">
            <a:spAutoFit/>
          </a:bodyPr>
          <a:lstStyle/>
          <a:p>
            <a:pPr algn="l"/>
            <a:r>
              <a:rPr sz="1450" b="1" i="0">
                <a:solidFill>
                  <a:srgbClr val="FFFFFF"/>
                </a:solidFill>
                <a:latin typeface="Calibri"/>
              </a:rPr>
              <a:t>Изолация по организация</a:t>
            </a:r>
          </a:p>
        </p:txBody>
      </p:sp>
      <p:sp>
        <p:nvSpPr>
          <p:cNvPr id="33" name="TextBox 32"/>
          <p:cNvSpPr txBox="1"/>
          <p:nvPr/>
        </p:nvSpPr>
        <p:spPr>
          <a:xfrm>
            <a:off x="914224" y="5074920"/>
            <a:ext cx="5029200" cy="457200"/>
          </a:xfrm>
          <a:prstGeom prst="rect">
            <a:avLst/>
          </a:prstGeom>
          <a:noFill/>
        </p:spPr>
        <p:txBody>
          <a:bodyPr wrap="square" lIns="0" tIns="0" rIns="0" bIns="0" anchor="t">
            <a:spAutoFit/>
          </a:bodyPr>
          <a:lstStyle/>
          <a:p>
            <a:pPr algn="l">
              <a:lnSpc>
                <a:spcPct val="105000"/>
              </a:lnSpc>
            </a:pPr>
            <a:r>
              <a:rPr sz="1050" b="0" i="1">
                <a:solidFill>
                  <a:srgbClr val="9AABE0"/>
                </a:solidFill>
                <a:latin typeface="Calibri"/>
              </a:rPr>
              <a:t>SecurityUtils.getCurrentOrganizationId() филтрира всяка заявка на ниво repository</a:t>
            </a:r>
          </a:p>
        </p:txBody>
      </p:sp>
      <p:sp>
        <p:nvSpPr>
          <p:cNvPr id="34" name="Rounded Rectangle 33"/>
          <p:cNvSpPr/>
          <p:nvPr/>
        </p:nvSpPr>
        <p:spPr>
          <a:xfrm>
            <a:off x="914224" y="5623560"/>
            <a:ext cx="896112" cy="384048"/>
          </a:xfrm>
          <a:prstGeom prst="roundRect">
            <a:avLst>
              <a:gd name="adj" fmla="val 25000"/>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224" y="5623560"/>
            <a:ext cx="896112" cy="384048"/>
          </a:xfrm>
          <a:prstGeom prst="rect">
            <a:avLst/>
          </a:prstGeom>
          <a:noFill/>
        </p:spPr>
        <p:txBody>
          <a:bodyPr wrap="square" lIns="0" tIns="0" rIns="0" bIns="0" anchor="ctr">
            <a:spAutoFit/>
          </a:bodyPr>
          <a:lstStyle/>
          <a:p>
            <a:pPr algn="ctr"/>
            <a:r>
              <a:rPr sz="830" b="1" i="0">
                <a:solidFill>
                  <a:srgbClr val="3DDC97"/>
                </a:solidFill>
                <a:latin typeface="Calibri"/>
              </a:rPr>
              <a:t>User</a:t>
            </a:r>
          </a:p>
        </p:txBody>
      </p:sp>
      <p:sp>
        <p:nvSpPr>
          <p:cNvPr id="36" name="Rounded Rectangle 35"/>
          <p:cNvSpPr/>
          <p:nvPr/>
        </p:nvSpPr>
        <p:spPr>
          <a:xfrm>
            <a:off x="1947496" y="5623560"/>
            <a:ext cx="896112" cy="384048"/>
          </a:xfrm>
          <a:prstGeom prst="roundRect">
            <a:avLst>
              <a:gd name="adj" fmla="val 25000"/>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947496" y="5623560"/>
            <a:ext cx="896112" cy="384048"/>
          </a:xfrm>
          <a:prstGeom prst="rect">
            <a:avLst/>
          </a:prstGeom>
          <a:noFill/>
        </p:spPr>
        <p:txBody>
          <a:bodyPr wrap="square" lIns="0" tIns="0" rIns="0" bIns="0" anchor="ctr">
            <a:spAutoFit/>
          </a:bodyPr>
          <a:lstStyle/>
          <a:p>
            <a:pPr algn="ctr"/>
            <a:r>
              <a:rPr sz="830" b="1" i="0">
                <a:solidFill>
                  <a:srgbClr val="3DDC97"/>
                </a:solidFill>
                <a:latin typeface="Calibri"/>
              </a:rPr>
              <a:t>Connector</a:t>
            </a:r>
          </a:p>
        </p:txBody>
      </p:sp>
      <p:sp>
        <p:nvSpPr>
          <p:cNvPr id="38" name="Rounded Rectangle 37"/>
          <p:cNvSpPr/>
          <p:nvPr/>
        </p:nvSpPr>
        <p:spPr>
          <a:xfrm>
            <a:off x="2980768" y="5623560"/>
            <a:ext cx="896112" cy="384048"/>
          </a:xfrm>
          <a:prstGeom prst="roundRect">
            <a:avLst>
              <a:gd name="adj" fmla="val 25000"/>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80768" y="5623560"/>
            <a:ext cx="896112" cy="384048"/>
          </a:xfrm>
          <a:prstGeom prst="rect">
            <a:avLst/>
          </a:prstGeom>
          <a:noFill/>
        </p:spPr>
        <p:txBody>
          <a:bodyPr wrap="square" lIns="0" tIns="0" rIns="0" bIns="0" anchor="ctr">
            <a:spAutoFit/>
          </a:bodyPr>
          <a:lstStyle/>
          <a:p>
            <a:pPr algn="ctr"/>
            <a:r>
              <a:rPr sz="830" b="1" i="0">
                <a:solidFill>
                  <a:srgbClr val="3DDC97"/>
                </a:solidFill>
                <a:latin typeface="Calibri"/>
              </a:rPr>
              <a:t>SystemScan</a:t>
            </a:r>
          </a:p>
        </p:txBody>
      </p:sp>
      <p:sp>
        <p:nvSpPr>
          <p:cNvPr id="40" name="Rounded Rectangle 39"/>
          <p:cNvSpPr/>
          <p:nvPr/>
        </p:nvSpPr>
        <p:spPr>
          <a:xfrm>
            <a:off x="4014040" y="5623560"/>
            <a:ext cx="896112" cy="384048"/>
          </a:xfrm>
          <a:prstGeom prst="roundRect">
            <a:avLst>
              <a:gd name="adj" fmla="val 25000"/>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014040" y="5623560"/>
            <a:ext cx="896112" cy="384048"/>
          </a:xfrm>
          <a:prstGeom prst="rect">
            <a:avLst/>
          </a:prstGeom>
          <a:noFill/>
        </p:spPr>
        <p:txBody>
          <a:bodyPr wrap="square" lIns="0" tIns="0" rIns="0" bIns="0" anchor="ctr">
            <a:spAutoFit/>
          </a:bodyPr>
          <a:lstStyle/>
          <a:p>
            <a:pPr algn="ctr"/>
            <a:r>
              <a:rPr sz="830" b="1" i="0">
                <a:solidFill>
                  <a:srgbClr val="3DDC97"/>
                </a:solidFill>
                <a:latin typeface="Calibri"/>
              </a:rPr>
              <a:t>Cycle</a:t>
            </a:r>
          </a:p>
        </p:txBody>
      </p:sp>
      <p:sp>
        <p:nvSpPr>
          <p:cNvPr id="42" name="Rounded Rectangle 41"/>
          <p:cNvSpPr/>
          <p:nvPr/>
        </p:nvSpPr>
        <p:spPr>
          <a:xfrm>
            <a:off x="5047312" y="5623560"/>
            <a:ext cx="896112" cy="384048"/>
          </a:xfrm>
          <a:prstGeom prst="roundRect">
            <a:avLst>
              <a:gd name="adj" fmla="val 25000"/>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47312" y="5623560"/>
            <a:ext cx="896112" cy="384048"/>
          </a:xfrm>
          <a:prstGeom prst="rect">
            <a:avLst/>
          </a:prstGeom>
          <a:noFill/>
        </p:spPr>
        <p:txBody>
          <a:bodyPr wrap="square" lIns="0" tIns="0" rIns="0" bIns="0" anchor="ctr">
            <a:spAutoFit/>
          </a:bodyPr>
          <a:lstStyle/>
          <a:p>
            <a:pPr algn="ctr"/>
            <a:r>
              <a:rPr sz="830" b="1" i="0">
                <a:solidFill>
                  <a:srgbClr val="3DDC97"/>
                </a:solidFill>
                <a:latin typeface="Calibri"/>
              </a:rPr>
              <a:t>Transformation</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5184648" y="1188720"/>
            <a:ext cx="1828800" cy="1828800"/>
          </a:xfrm>
          <a:prstGeom prst="ellipse">
            <a:avLst/>
          </a:prstGeom>
          <a:solidFill>
            <a:srgbClr val="2C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422392" y="1426464"/>
            <a:ext cx="1353312" cy="1353312"/>
          </a:xfrm>
          <a:prstGeom prst="rect">
            <a:avLst/>
          </a:prstGeom>
        </p:spPr>
      </p:pic>
      <p:sp>
        <p:nvSpPr>
          <p:cNvPr id="4" name="TextBox 3"/>
          <p:cNvSpPr txBox="1"/>
          <p:nvPr/>
        </p:nvSpPr>
        <p:spPr>
          <a:xfrm>
            <a:off x="640080" y="3291840"/>
            <a:ext cx="10881360" cy="822960"/>
          </a:xfrm>
          <a:prstGeom prst="rect">
            <a:avLst/>
          </a:prstGeom>
          <a:noFill/>
        </p:spPr>
        <p:txBody>
          <a:bodyPr wrap="square" lIns="0" tIns="0" rIns="0" bIns="0" anchor="t">
            <a:spAutoFit/>
          </a:bodyPr>
          <a:lstStyle/>
          <a:p>
            <a:pPr algn="ctr"/>
            <a:r>
              <a:rPr sz="3800" b="1" i="0">
                <a:solidFill>
                  <a:srgbClr val="FFFFFF"/>
                </a:solidFill>
                <a:latin typeface="Calibri"/>
              </a:rPr>
              <a:t>Демонстрация на живо</a:t>
            </a:r>
          </a:p>
        </p:txBody>
      </p:sp>
      <p:sp>
        <p:nvSpPr>
          <p:cNvPr id="5" name="TextBox 4"/>
          <p:cNvSpPr txBox="1"/>
          <p:nvPr/>
        </p:nvSpPr>
        <p:spPr>
          <a:xfrm>
            <a:off x="640080" y="4114800"/>
            <a:ext cx="10881360" cy="457200"/>
          </a:xfrm>
          <a:prstGeom prst="rect">
            <a:avLst/>
          </a:prstGeom>
          <a:noFill/>
        </p:spPr>
        <p:txBody>
          <a:bodyPr wrap="square" lIns="0" tIns="0" rIns="0" bIns="0" anchor="t">
            <a:spAutoFit/>
          </a:bodyPr>
          <a:lstStyle/>
          <a:p>
            <a:pPr algn="ctr"/>
            <a:r>
              <a:rPr sz="1500" b="0" i="1">
                <a:solidFill>
                  <a:srgbClr val="3DDC97"/>
                </a:solidFill>
                <a:latin typeface="Calibri"/>
              </a:rPr>
              <a:t>Да видим Database Migrator в действие — от връзка до завършена миграция</a:t>
            </a:r>
          </a:p>
        </p:txBody>
      </p:sp>
      <p:sp>
        <p:nvSpPr>
          <p:cNvPr id="6" name="Rounded Rectangle 5"/>
          <p:cNvSpPr/>
          <p:nvPr/>
        </p:nvSpPr>
        <p:spPr>
          <a:xfrm>
            <a:off x="1752447" y="4937760"/>
            <a:ext cx="1965960" cy="548640"/>
          </a:xfrm>
          <a:prstGeom prst="roundRect">
            <a:avLst>
              <a:gd name="adj" fmla="val 20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52447" y="4937760"/>
            <a:ext cx="1965960" cy="548640"/>
          </a:xfrm>
          <a:prstGeom prst="rect">
            <a:avLst/>
          </a:prstGeom>
          <a:noFill/>
        </p:spPr>
        <p:txBody>
          <a:bodyPr wrap="square" lIns="0" tIns="0" rIns="0" bIns="0" anchor="ctr">
            <a:spAutoFit/>
          </a:bodyPr>
          <a:lstStyle/>
          <a:p>
            <a:pPr algn="ctr"/>
            <a:r>
              <a:rPr sz="1300" b="1" i="0">
                <a:solidFill>
                  <a:srgbClr val="FFFFFF"/>
                </a:solidFill>
                <a:latin typeface="Calibri"/>
              </a:rPr>
              <a:t>1. Connector</a:t>
            </a:r>
          </a:p>
        </p:txBody>
      </p:sp>
      <p:sp>
        <p:nvSpPr>
          <p:cNvPr id="8" name="Rounded Rectangle 7"/>
          <p:cNvSpPr/>
          <p:nvPr/>
        </p:nvSpPr>
        <p:spPr>
          <a:xfrm>
            <a:off x="3992727" y="4937760"/>
            <a:ext cx="1965960" cy="548640"/>
          </a:xfrm>
          <a:prstGeom prst="roundRect">
            <a:avLst>
              <a:gd name="adj" fmla="val 20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92727" y="4937760"/>
            <a:ext cx="1965960" cy="548640"/>
          </a:xfrm>
          <a:prstGeom prst="rect">
            <a:avLst/>
          </a:prstGeom>
          <a:noFill/>
        </p:spPr>
        <p:txBody>
          <a:bodyPr wrap="square" lIns="0" tIns="0" rIns="0" bIns="0" anchor="ctr">
            <a:spAutoFit/>
          </a:bodyPr>
          <a:lstStyle/>
          <a:p>
            <a:pPr algn="ctr"/>
            <a:r>
              <a:rPr sz="1300" b="1" i="0">
                <a:solidFill>
                  <a:srgbClr val="FFFFFF"/>
                </a:solidFill>
                <a:latin typeface="Calibri"/>
              </a:rPr>
              <a:t>2. Scan</a:t>
            </a:r>
          </a:p>
        </p:txBody>
      </p:sp>
      <p:sp>
        <p:nvSpPr>
          <p:cNvPr id="10" name="Rounded Rectangle 9"/>
          <p:cNvSpPr/>
          <p:nvPr/>
        </p:nvSpPr>
        <p:spPr>
          <a:xfrm>
            <a:off x="6233007" y="4937760"/>
            <a:ext cx="1965960" cy="548640"/>
          </a:xfrm>
          <a:prstGeom prst="roundRect">
            <a:avLst>
              <a:gd name="adj" fmla="val 20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33007" y="4937760"/>
            <a:ext cx="1965960" cy="548640"/>
          </a:xfrm>
          <a:prstGeom prst="rect">
            <a:avLst/>
          </a:prstGeom>
          <a:noFill/>
        </p:spPr>
        <p:txBody>
          <a:bodyPr wrap="square" lIns="0" tIns="0" rIns="0" bIns="0" anchor="ctr">
            <a:spAutoFit/>
          </a:bodyPr>
          <a:lstStyle/>
          <a:p>
            <a:pPr algn="ctr"/>
            <a:r>
              <a:rPr sz="1300" b="1" i="0">
                <a:solidFill>
                  <a:srgbClr val="FFFFFF"/>
                </a:solidFill>
                <a:latin typeface="Calibri"/>
              </a:rPr>
              <a:t>3. Transformation</a:t>
            </a:r>
          </a:p>
        </p:txBody>
      </p:sp>
      <p:sp>
        <p:nvSpPr>
          <p:cNvPr id="12" name="Rounded Rectangle 11"/>
          <p:cNvSpPr/>
          <p:nvPr/>
        </p:nvSpPr>
        <p:spPr>
          <a:xfrm>
            <a:off x="8473287" y="4937760"/>
            <a:ext cx="1965960" cy="548640"/>
          </a:xfrm>
          <a:prstGeom prst="roundRect">
            <a:avLst>
              <a:gd name="adj" fmla="val 20000"/>
            </a:avLst>
          </a:prstGeom>
          <a:solidFill>
            <a:srgbClr val="27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73287" y="4937760"/>
            <a:ext cx="1965960" cy="548640"/>
          </a:xfrm>
          <a:prstGeom prst="rect">
            <a:avLst/>
          </a:prstGeom>
          <a:noFill/>
        </p:spPr>
        <p:txBody>
          <a:bodyPr wrap="square" lIns="0" tIns="0" rIns="0" bIns="0" anchor="ctr">
            <a:spAutoFit/>
          </a:bodyPr>
          <a:lstStyle/>
          <a:p>
            <a:pPr algn="ctr"/>
            <a:r>
              <a:rPr sz="1300" b="1" i="0">
                <a:solidFill>
                  <a:srgbClr val="FFFFFF"/>
                </a:solidFill>
                <a:latin typeface="Calibri"/>
              </a:rPr>
              <a:t>4. Execution</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1644</TotalTime>
  <Words>1901</Words>
  <Application>Microsoft Office PowerPoint</Application>
  <PresentationFormat>Widescreen</PresentationFormat>
  <Paragraphs>163</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Migrator — Техническа презентация</dc:title>
  <dc:subject>PptxGenJS Presentation</dc:subject>
  <dc:creator>Database Migrator</dc:creator>
  <cp:lastModifiedBy>Тереза Божилова</cp:lastModifiedBy>
  <cp:revision>7</cp:revision>
  <dcterms:created xsi:type="dcterms:W3CDTF">2026-06-21T12:21:47Z</dcterms:created>
  <dcterms:modified xsi:type="dcterms:W3CDTF">2026-06-22T17:53:33Z</dcterms:modified>
</cp:coreProperties>
</file>